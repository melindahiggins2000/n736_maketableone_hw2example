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handoutMasterIdLst>
    <p:handoutMasterId r:id="rId36"/>
  </p:handoutMasterIdLst>
  <p:sldIdLst>
    <p:sldId id="257" r:id="rId2"/>
    <p:sldId id="314" r:id="rId3"/>
    <p:sldId id="285" r:id="rId4"/>
    <p:sldId id="321" r:id="rId5"/>
    <p:sldId id="339" r:id="rId6"/>
    <p:sldId id="395" r:id="rId7"/>
    <p:sldId id="293" r:id="rId8"/>
    <p:sldId id="279" r:id="rId9"/>
    <p:sldId id="366" r:id="rId10"/>
    <p:sldId id="281" r:id="rId11"/>
    <p:sldId id="282" r:id="rId12"/>
    <p:sldId id="284" r:id="rId13"/>
    <p:sldId id="367" r:id="rId14"/>
    <p:sldId id="286" r:id="rId15"/>
    <p:sldId id="300" r:id="rId16"/>
    <p:sldId id="301" r:id="rId17"/>
    <p:sldId id="288" r:id="rId18"/>
    <p:sldId id="289" r:id="rId19"/>
    <p:sldId id="296" r:id="rId20"/>
    <p:sldId id="295" r:id="rId21"/>
    <p:sldId id="277" r:id="rId22"/>
    <p:sldId id="304" r:id="rId23"/>
    <p:sldId id="283" r:id="rId24"/>
    <p:sldId id="258" r:id="rId25"/>
    <p:sldId id="368" r:id="rId26"/>
    <p:sldId id="369" r:id="rId27"/>
    <p:sldId id="399" r:id="rId28"/>
    <p:sldId id="396" r:id="rId29"/>
    <p:sldId id="397" r:id="rId30"/>
    <p:sldId id="398" r:id="rId31"/>
    <p:sldId id="400" r:id="rId32"/>
    <p:sldId id="401" r:id="rId33"/>
    <p:sldId id="402" r:id="rId34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routek, Michael" initials="JM" lastIdx="18" clrIdx="1">
    <p:extLst>
      <p:ext uri="{19B8F6BF-5375-455C-9EA6-DF929625EA0E}">
        <p15:presenceInfo xmlns:p15="http://schemas.microsoft.com/office/powerpoint/2012/main" userId="S-1-5-21-2050513582-247876166-1894786193-22856" providerId="AD"/>
      </p:ext>
    </p:extLst>
  </p:cmAuthor>
  <p:cmAuthor id="2" name="Schwartz, Todd Andrew" initials="STA" lastIdx="20" clrIdx="2">
    <p:extLst>
      <p:ext uri="{19B8F6BF-5375-455C-9EA6-DF929625EA0E}">
        <p15:presenceInfo xmlns:p15="http://schemas.microsoft.com/office/powerpoint/2012/main" userId="S-1-5-21-344340502-4252695000-2390403120-1216519" providerId="AD"/>
      </p:ext>
    </p:extLst>
  </p:cmAuthor>
  <p:cmAuthor id="3" name="Kim, Myoung Jin" initials="KMJ" lastIdx="4" clrIdx="3">
    <p:extLst>
      <p:ext uri="{19B8F6BF-5375-455C-9EA6-DF929625EA0E}">
        <p15:presenceInfo xmlns:p15="http://schemas.microsoft.com/office/powerpoint/2012/main" userId="Kim, Myoung Jin" providerId="None"/>
      </p:ext>
    </p:extLst>
  </p:cmAuthor>
  <p:cmAuthor id="4" name="Matt Hayat" initials="MH" lastIdx="17" clrIdx="4">
    <p:extLst>
      <p:ext uri="{19B8F6BF-5375-455C-9EA6-DF929625EA0E}">
        <p15:presenceInfo xmlns:p15="http://schemas.microsoft.com/office/powerpoint/2012/main" userId="S-1-5-21-2482117454-3359243091-2387698914-235681" providerId="AD"/>
      </p:ext>
    </p:extLst>
  </p:cmAuthor>
  <p:cmAuthor id="5" name="Dooley, Mary" initials="DM" lastIdx="1" clrIdx="5">
    <p:extLst>
      <p:ext uri="{19B8F6BF-5375-455C-9EA6-DF929625EA0E}">
        <p15:presenceInfo xmlns:p15="http://schemas.microsoft.com/office/powerpoint/2012/main" userId="S-1-5-21-3356953899-2815350150-2068512915-1565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6092"/>
    <a:srgbClr val="E9EDF4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01" autoAdjust="0"/>
    <p:restoredTop sz="95268" autoAdjust="0"/>
  </p:normalViewPr>
  <p:slideViewPr>
    <p:cSldViewPr>
      <p:cViewPr varScale="1">
        <p:scale>
          <a:sx n="82" d="100"/>
          <a:sy n="82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7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160D20-7046-4715-A765-8436A047C8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744EFAD-D92D-40CF-A29D-1DB270023CCE}">
      <dgm:prSet custT="1"/>
      <dgm:spPr/>
      <dgm:t>
        <a:bodyPr/>
        <a:lstStyle/>
        <a:p>
          <a:r>
            <a:rPr lang="en-US" sz="3200" b="0" i="0" dirty="0"/>
            <a:t>DO indicate data incompatible with model</a:t>
          </a:r>
          <a:endParaRPr lang="en-US" sz="3200" dirty="0"/>
        </a:p>
      </dgm:t>
    </dgm:pt>
    <dgm:pt modelId="{A5D8213A-690E-4247-ACFC-B67E130A0EA0}" type="parTrans" cxnId="{F27B4806-0416-44E7-BF4B-98B5EDC97790}">
      <dgm:prSet/>
      <dgm:spPr/>
      <dgm:t>
        <a:bodyPr/>
        <a:lstStyle/>
        <a:p>
          <a:endParaRPr lang="en-US" sz="2400"/>
        </a:p>
      </dgm:t>
    </dgm:pt>
    <dgm:pt modelId="{FF00E582-9D41-445E-B3DA-FD76353C4299}" type="sibTrans" cxnId="{F27B4806-0416-44E7-BF4B-98B5EDC97790}">
      <dgm:prSet/>
      <dgm:spPr/>
      <dgm:t>
        <a:bodyPr/>
        <a:lstStyle/>
        <a:p>
          <a:endParaRPr lang="en-US" sz="2400"/>
        </a:p>
      </dgm:t>
    </dgm:pt>
    <dgm:pt modelId="{A5E9F9A5-6393-4E49-B3B0-C6D18E44FC4C}">
      <dgm:prSet custT="1"/>
      <dgm:spPr/>
      <dgm:t>
        <a:bodyPr/>
        <a:lstStyle/>
        <a:p>
          <a:r>
            <a:rPr lang="en-US" sz="3200" b="0" i="0" dirty="0"/>
            <a:t>DO NOT measure probability hypothesis is true</a:t>
          </a:r>
          <a:endParaRPr lang="en-US" sz="3200" dirty="0"/>
        </a:p>
      </dgm:t>
    </dgm:pt>
    <dgm:pt modelId="{64BEF869-297A-45B6-831C-C62490E126D1}" type="parTrans" cxnId="{33DDDAEB-923E-45CF-A1F8-E318D53216FC}">
      <dgm:prSet/>
      <dgm:spPr/>
      <dgm:t>
        <a:bodyPr/>
        <a:lstStyle/>
        <a:p>
          <a:endParaRPr lang="en-US" sz="2400"/>
        </a:p>
      </dgm:t>
    </dgm:pt>
    <dgm:pt modelId="{63833240-8E29-40D1-ABC4-ACA5D6A1F77A}" type="sibTrans" cxnId="{33DDDAEB-923E-45CF-A1F8-E318D53216FC}">
      <dgm:prSet/>
      <dgm:spPr/>
      <dgm:t>
        <a:bodyPr/>
        <a:lstStyle/>
        <a:p>
          <a:endParaRPr lang="en-US" sz="2400"/>
        </a:p>
      </dgm:t>
    </dgm:pt>
    <dgm:pt modelId="{E8C5579E-90E8-4573-A4F9-7077FD4B0C5D}">
      <dgm:prSet custT="1"/>
      <dgm:spPr/>
      <dgm:t>
        <a:bodyPr/>
        <a:lstStyle/>
        <a:p>
          <a:r>
            <a:rPr lang="en-US" sz="3200" b="0" i="0"/>
            <a:t>Should NOT be used as basis for policy decisions</a:t>
          </a:r>
          <a:endParaRPr lang="en-US" sz="3200"/>
        </a:p>
      </dgm:t>
    </dgm:pt>
    <dgm:pt modelId="{13B7CBA3-B654-45AE-8572-25983C70AD2C}" type="parTrans" cxnId="{FC85C5E0-9DD7-4E60-8D94-50EBFED30FF2}">
      <dgm:prSet/>
      <dgm:spPr/>
      <dgm:t>
        <a:bodyPr/>
        <a:lstStyle/>
        <a:p>
          <a:endParaRPr lang="en-US" sz="2400"/>
        </a:p>
      </dgm:t>
    </dgm:pt>
    <dgm:pt modelId="{AA8BA457-1B28-4602-97EA-008C2F5BDBBD}" type="sibTrans" cxnId="{FC85C5E0-9DD7-4E60-8D94-50EBFED30FF2}">
      <dgm:prSet/>
      <dgm:spPr/>
      <dgm:t>
        <a:bodyPr/>
        <a:lstStyle/>
        <a:p>
          <a:endParaRPr lang="en-US" sz="2400"/>
        </a:p>
      </dgm:t>
    </dgm:pt>
    <dgm:pt modelId="{4B3E34F5-3F11-434A-8CB0-879F73B02C0C}" type="pres">
      <dgm:prSet presAssocID="{5F160D20-7046-4715-A765-8436A047C83B}" presName="root" presStyleCnt="0">
        <dgm:presLayoutVars>
          <dgm:dir/>
          <dgm:resizeHandles val="exact"/>
        </dgm:presLayoutVars>
      </dgm:prSet>
      <dgm:spPr/>
    </dgm:pt>
    <dgm:pt modelId="{30DFAF3C-14AE-4D7D-B117-22C206E2A654}" type="pres">
      <dgm:prSet presAssocID="{5744EFAD-D92D-40CF-A29D-1DB270023CCE}" presName="compNode" presStyleCnt="0"/>
      <dgm:spPr/>
    </dgm:pt>
    <dgm:pt modelId="{481AB13C-4E2C-4F28-9094-9B9F173F0702}" type="pres">
      <dgm:prSet presAssocID="{5744EFAD-D92D-40CF-A29D-1DB270023CCE}" presName="bgRect" presStyleLbl="bgShp" presStyleIdx="0" presStyleCnt="3"/>
      <dgm:spPr/>
    </dgm:pt>
    <dgm:pt modelId="{30933317-3B24-4ED7-B7F8-B18E0F451AFD}" type="pres">
      <dgm:prSet presAssocID="{5744EFAD-D92D-40CF-A29D-1DB270023CC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78B37A-5A1D-4C37-9B67-5B22BCD8311A}" type="pres">
      <dgm:prSet presAssocID="{5744EFAD-D92D-40CF-A29D-1DB270023CCE}" presName="spaceRect" presStyleCnt="0"/>
      <dgm:spPr/>
    </dgm:pt>
    <dgm:pt modelId="{DC085189-9E9B-40B6-8DA3-93A3E422F121}" type="pres">
      <dgm:prSet presAssocID="{5744EFAD-D92D-40CF-A29D-1DB270023CCE}" presName="parTx" presStyleLbl="revTx" presStyleIdx="0" presStyleCnt="3">
        <dgm:presLayoutVars>
          <dgm:chMax val="0"/>
          <dgm:chPref val="0"/>
        </dgm:presLayoutVars>
      </dgm:prSet>
      <dgm:spPr/>
    </dgm:pt>
    <dgm:pt modelId="{D3F476BC-9B61-447F-BB5E-97856734F019}" type="pres">
      <dgm:prSet presAssocID="{FF00E582-9D41-445E-B3DA-FD76353C4299}" presName="sibTrans" presStyleCnt="0"/>
      <dgm:spPr/>
    </dgm:pt>
    <dgm:pt modelId="{87E3F4AA-F127-41A7-ADE9-1002F1CC8C24}" type="pres">
      <dgm:prSet presAssocID="{A5E9F9A5-6393-4E49-B3B0-C6D18E44FC4C}" presName="compNode" presStyleCnt="0"/>
      <dgm:spPr/>
    </dgm:pt>
    <dgm:pt modelId="{5FBAFF7C-DEE8-4ED7-80DD-B8A48AB9CE8B}" type="pres">
      <dgm:prSet presAssocID="{A5E9F9A5-6393-4E49-B3B0-C6D18E44FC4C}" presName="bgRect" presStyleLbl="bgShp" presStyleIdx="1" presStyleCnt="3"/>
      <dgm:spPr/>
    </dgm:pt>
    <dgm:pt modelId="{6EB61C60-44D0-4247-8CEB-DEE5F963CF51}" type="pres">
      <dgm:prSet presAssocID="{A5E9F9A5-6393-4E49-B3B0-C6D18E44FC4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D5EFDFF1-CFEB-4CA7-AD02-451FB40239F9}" type="pres">
      <dgm:prSet presAssocID="{A5E9F9A5-6393-4E49-B3B0-C6D18E44FC4C}" presName="spaceRect" presStyleCnt="0"/>
      <dgm:spPr/>
    </dgm:pt>
    <dgm:pt modelId="{69ABC3F1-3B4D-4858-9084-8FDDCF8EC156}" type="pres">
      <dgm:prSet presAssocID="{A5E9F9A5-6393-4E49-B3B0-C6D18E44FC4C}" presName="parTx" presStyleLbl="revTx" presStyleIdx="1" presStyleCnt="3">
        <dgm:presLayoutVars>
          <dgm:chMax val="0"/>
          <dgm:chPref val="0"/>
        </dgm:presLayoutVars>
      </dgm:prSet>
      <dgm:spPr/>
    </dgm:pt>
    <dgm:pt modelId="{C37974BB-5778-4E47-900D-670513CEA3C0}" type="pres">
      <dgm:prSet presAssocID="{63833240-8E29-40D1-ABC4-ACA5D6A1F77A}" presName="sibTrans" presStyleCnt="0"/>
      <dgm:spPr/>
    </dgm:pt>
    <dgm:pt modelId="{6BA4AEE6-FF03-41D6-BFD1-6C677511D145}" type="pres">
      <dgm:prSet presAssocID="{E8C5579E-90E8-4573-A4F9-7077FD4B0C5D}" presName="compNode" presStyleCnt="0"/>
      <dgm:spPr/>
    </dgm:pt>
    <dgm:pt modelId="{26BC687D-B3A0-4C17-9596-F33A857D673B}" type="pres">
      <dgm:prSet presAssocID="{E8C5579E-90E8-4573-A4F9-7077FD4B0C5D}" presName="bgRect" presStyleLbl="bgShp" presStyleIdx="2" presStyleCnt="3"/>
      <dgm:spPr/>
    </dgm:pt>
    <dgm:pt modelId="{7E81E150-FBE6-42F7-8078-494F55A3E84F}" type="pres">
      <dgm:prSet presAssocID="{E8C5579E-90E8-4573-A4F9-7077FD4B0C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EFF4109A-79EE-46C9-8F3C-856DD98B16FD}" type="pres">
      <dgm:prSet presAssocID="{E8C5579E-90E8-4573-A4F9-7077FD4B0C5D}" presName="spaceRect" presStyleCnt="0"/>
      <dgm:spPr/>
    </dgm:pt>
    <dgm:pt modelId="{19490111-ED17-4092-9E70-7D21F38B266F}" type="pres">
      <dgm:prSet presAssocID="{E8C5579E-90E8-4573-A4F9-7077FD4B0C5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7B4806-0416-44E7-BF4B-98B5EDC97790}" srcId="{5F160D20-7046-4715-A765-8436A047C83B}" destId="{5744EFAD-D92D-40CF-A29D-1DB270023CCE}" srcOrd="0" destOrd="0" parTransId="{A5D8213A-690E-4247-ACFC-B67E130A0EA0}" sibTransId="{FF00E582-9D41-445E-B3DA-FD76353C4299}"/>
    <dgm:cxn modelId="{50EF6C07-1BF4-4D10-8036-7C2E90A26116}" type="presOf" srcId="{A5E9F9A5-6393-4E49-B3B0-C6D18E44FC4C}" destId="{69ABC3F1-3B4D-4858-9084-8FDDCF8EC156}" srcOrd="0" destOrd="0" presId="urn:microsoft.com/office/officeart/2018/2/layout/IconVerticalSolidList"/>
    <dgm:cxn modelId="{25C09722-6149-4469-841F-5FE3DEB7CD49}" type="presOf" srcId="{5F160D20-7046-4715-A765-8436A047C83B}" destId="{4B3E34F5-3F11-434A-8CB0-879F73B02C0C}" srcOrd="0" destOrd="0" presId="urn:microsoft.com/office/officeart/2018/2/layout/IconVerticalSolidList"/>
    <dgm:cxn modelId="{51746438-AE18-4228-9871-C401060C8FF5}" type="presOf" srcId="{E8C5579E-90E8-4573-A4F9-7077FD4B0C5D}" destId="{19490111-ED17-4092-9E70-7D21F38B266F}" srcOrd="0" destOrd="0" presId="urn:microsoft.com/office/officeart/2018/2/layout/IconVerticalSolidList"/>
    <dgm:cxn modelId="{5155284A-2D6E-4452-B5E5-53B7047B55AC}" type="presOf" srcId="{5744EFAD-D92D-40CF-A29D-1DB270023CCE}" destId="{DC085189-9E9B-40B6-8DA3-93A3E422F121}" srcOrd="0" destOrd="0" presId="urn:microsoft.com/office/officeart/2018/2/layout/IconVerticalSolidList"/>
    <dgm:cxn modelId="{FC85C5E0-9DD7-4E60-8D94-50EBFED30FF2}" srcId="{5F160D20-7046-4715-A765-8436A047C83B}" destId="{E8C5579E-90E8-4573-A4F9-7077FD4B0C5D}" srcOrd="2" destOrd="0" parTransId="{13B7CBA3-B654-45AE-8572-25983C70AD2C}" sibTransId="{AA8BA457-1B28-4602-97EA-008C2F5BDBBD}"/>
    <dgm:cxn modelId="{33DDDAEB-923E-45CF-A1F8-E318D53216FC}" srcId="{5F160D20-7046-4715-A765-8436A047C83B}" destId="{A5E9F9A5-6393-4E49-B3B0-C6D18E44FC4C}" srcOrd="1" destOrd="0" parTransId="{64BEF869-297A-45B6-831C-C62490E126D1}" sibTransId="{63833240-8E29-40D1-ABC4-ACA5D6A1F77A}"/>
    <dgm:cxn modelId="{190E7045-BA42-4153-A872-495EA082655B}" type="presParOf" srcId="{4B3E34F5-3F11-434A-8CB0-879F73B02C0C}" destId="{30DFAF3C-14AE-4D7D-B117-22C206E2A654}" srcOrd="0" destOrd="0" presId="urn:microsoft.com/office/officeart/2018/2/layout/IconVerticalSolidList"/>
    <dgm:cxn modelId="{AD1A1782-E3FA-4BEE-A21C-ECBABF9349E8}" type="presParOf" srcId="{30DFAF3C-14AE-4D7D-B117-22C206E2A654}" destId="{481AB13C-4E2C-4F28-9094-9B9F173F0702}" srcOrd="0" destOrd="0" presId="urn:microsoft.com/office/officeart/2018/2/layout/IconVerticalSolidList"/>
    <dgm:cxn modelId="{B28FA806-E7AB-4BF5-B59A-6871B065C0B7}" type="presParOf" srcId="{30DFAF3C-14AE-4D7D-B117-22C206E2A654}" destId="{30933317-3B24-4ED7-B7F8-B18E0F451AFD}" srcOrd="1" destOrd="0" presId="urn:microsoft.com/office/officeart/2018/2/layout/IconVerticalSolidList"/>
    <dgm:cxn modelId="{476AF4FB-60D8-473D-8938-8CE0CB0D9A79}" type="presParOf" srcId="{30DFAF3C-14AE-4D7D-B117-22C206E2A654}" destId="{2478B37A-5A1D-4C37-9B67-5B22BCD8311A}" srcOrd="2" destOrd="0" presId="urn:microsoft.com/office/officeart/2018/2/layout/IconVerticalSolidList"/>
    <dgm:cxn modelId="{854C5C79-2B85-46EC-B1B6-4B63A977072C}" type="presParOf" srcId="{30DFAF3C-14AE-4D7D-B117-22C206E2A654}" destId="{DC085189-9E9B-40B6-8DA3-93A3E422F121}" srcOrd="3" destOrd="0" presId="urn:microsoft.com/office/officeart/2018/2/layout/IconVerticalSolidList"/>
    <dgm:cxn modelId="{9DD6957F-0160-48D6-ACF2-9C1F1B893F3A}" type="presParOf" srcId="{4B3E34F5-3F11-434A-8CB0-879F73B02C0C}" destId="{D3F476BC-9B61-447F-BB5E-97856734F019}" srcOrd="1" destOrd="0" presId="urn:microsoft.com/office/officeart/2018/2/layout/IconVerticalSolidList"/>
    <dgm:cxn modelId="{31A8EA44-C880-40F2-A854-1A124C40DFE0}" type="presParOf" srcId="{4B3E34F5-3F11-434A-8CB0-879F73B02C0C}" destId="{87E3F4AA-F127-41A7-ADE9-1002F1CC8C24}" srcOrd="2" destOrd="0" presId="urn:microsoft.com/office/officeart/2018/2/layout/IconVerticalSolidList"/>
    <dgm:cxn modelId="{C54BC6E8-3A2A-453C-A361-49FF3FC93353}" type="presParOf" srcId="{87E3F4AA-F127-41A7-ADE9-1002F1CC8C24}" destId="{5FBAFF7C-DEE8-4ED7-80DD-B8A48AB9CE8B}" srcOrd="0" destOrd="0" presId="urn:microsoft.com/office/officeart/2018/2/layout/IconVerticalSolidList"/>
    <dgm:cxn modelId="{703AAC90-D639-4FCD-9FE4-C029CFABE155}" type="presParOf" srcId="{87E3F4AA-F127-41A7-ADE9-1002F1CC8C24}" destId="{6EB61C60-44D0-4247-8CEB-DEE5F963CF51}" srcOrd="1" destOrd="0" presId="urn:microsoft.com/office/officeart/2018/2/layout/IconVerticalSolidList"/>
    <dgm:cxn modelId="{54F0B924-131C-4E00-A1E5-2F0CB8DBC8B7}" type="presParOf" srcId="{87E3F4AA-F127-41A7-ADE9-1002F1CC8C24}" destId="{D5EFDFF1-CFEB-4CA7-AD02-451FB40239F9}" srcOrd="2" destOrd="0" presId="urn:microsoft.com/office/officeart/2018/2/layout/IconVerticalSolidList"/>
    <dgm:cxn modelId="{59D4FA96-C58A-4921-A379-9F5C6C7027E4}" type="presParOf" srcId="{87E3F4AA-F127-41A7-ADE9-1002F1CC8C24}" destId="{69ABC3F1-3B4D-4858-9084-8FDDCF8EC156}" srcOrd="3" destOrd="0" presId="urn:microsoft.com/office/officeart/2018/2/layout/IconVerticalSolidList"/>
    <dgm:cxn modelId="{43A49E0B-BF21-4C7A-BAA6-87D5DF8D8B49}" type="presParOf" srcId="{4B3E34F5-3F11-434A-8CB0-879F73B02C0C}" destId="{C37974BB-5778-4E47-900D-670513CEA3C0}" srcOrd="3" destOrd="0" presId="urn:microsoft.com/office/officeart/2018/2/layout/IconVerticalSolidList"/>
    <dgm:cxn modelId="{3208FB10-C599-4BA7-BBD5-F51DF943F497}" type="presParOf" srcId="{4B3E34F5-3F11-434A-8CB0-879F73B02C0C}" destId="{6BA4AEE6-FF03-41D6-BFD1-6C677511D145}" srcOrd="4" destOrd="0" presId="urn:microsoft.com/office/officeart/2018/2/layout/IconVerticalSolidList"/>
    <dgm:cxn modelId="{F36AB5CE-27A0-498E-85F7-06F3E4201659}" type="presParOf" srcId="{6BA4AEE6-FF03-41D6-BFD1-6C677511D145}" destId="{26BC687D-B3A0-4C17-9596-F33A857D673B}" srcOrd="0" destOrd="0" presId="urn:microsoft.com/office/officeart/2018/2/layout/IconVerticalSolidList"/>
    <dgm:cxn modelId="{2B9533FF-342D-4CD9-A0B9-46AAE86DD880}" type="presParOf" srcId="{6BA4AEE6-FF03-41D6-BFD1-6C677511D145}" destId="{7E81E150-FBE6-42F7-8078-494F55A3E84F}" srcOrd="1" destOrd="0" presId="urn:microsoft.com/office/officeart/2018/2/layout/IconVerticalSolidList"/>
    <dgm:cxn modelId="{9AFB57AE-9E88-4C7C-B664-891E22D182D1}" type="presParOf" srcId="{6BA4AEE6-FF03-41D6-BFD1-6C677511D145}" destId="{EFF4109A-79EE-46C9-8F3C-856DD98B16FD}" srcOrd="2" destOrd="0" presId="urn:microsoft.com/office/officeart/2018/2/layout/IconVerticalSolidList"/>
    <dgm:cxn modelId="{9F62949C-DC6A-4EA6-AC29-BE73ACC82918}" type="presParOf" srcId="{6BA4AEE6-FF03-41D6-BFD1-6C677511D145}" destId="{19490111-ED17-4092-9E70-7D21F38B26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3EA1A2-96C1-4FBC-9216-8344034D7E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AE69E20-2EA1-4F72-9E27-BCA2474B72BC}">
      <dgm:prSet custT="1"/>
      <dgm:spPr/>
      <dgm:t>
        <a:bodyPr/>
        <a:lstStyle/>
        <a:p>
          <a:r>
            <a:rPr lang="en-US" sz="3200" dirty="0"/>
            <a:t>Require full reporting and transparency (for proper inference)</a:t>
          </a:r>
        </a:p>
      </dgm:t>
    </dgm:pt>
    <dgm:pt modelId="{44B4B1C3-AA99-48E3-85EF-8D2C65825730}" type="parTrans" cxnId="{CA5C15EA-6D3A-4CC5-9E7D-12D468C54469}">
      <dgm:prSet/>
      <dgm:spPr/>
      <dgm:t>
        <a:bodyPr/>
        <a:lstStyle/>
        <a:p>
          <a:endParaRPr lang="en-US" sz="2400"/>
        </a:p>
      </dgm:t>
    </dgm:pt>
    <dgm:pt modelId="{1EBFB073-2FB6-48C1-ADDC-726F8064B2A1}" type="sibTrans" cxnId="{CA5C15EA-6D3A-4CC5-9E7D-12D468C54469}">
      <dgm:prSet/>
      <dgm:spPr/>
      <dgm:t>
        <a:bodyPr/>
        <a:lstStyle/>
        <a:p>
          <a:endParaRPr lang="en-US" sz="2400"/>
        </a:p>
      </dgm:t>
    </dgm:pt>
    <dgm:pt modelId="{3BCEBEA5-E9C3-4B4A-BABB-AD3CFA78A748}">
      <dgm:prSet custT="1"/>
      <dgm:spPr/>
      <dgm:t>
        <a:bodyPr/>
        <a:lstStyle/>
        <a:p>
          <a:r>
            <a:rPr lang="en-US" sz="3200"/>
            <a:t>Is NOT an effect size, nor indication of importance</a:t>
          </a:r>
        </a:p>
      </dgm:t>
    </dgm:pt>
    <dgm:pt modelId="{CD2561AA-9540-4B1D-B501-5AFC408BDFA7}" type="parTrans" cxnId="{CF6A23B1-3FBF-4792-A6E1-C069F719F3C0}">
      <dgm:prSet/>
      <dgm:spPr/>
      <dgm:t>
        <a:bodyPr/>
        <a:lstStyle/>
        <a:p>
          <a:endParaRPr lang="en-US" sz="2400"/>
        </a:p>
      </dgm:t>
    </dgm:pt>
    <dgm:pt modelId="{D628969E-71CE-42A9-8A13-D91352CE27F4}" type="sibTrans" cxnId="{CF6A23B1-3FBF-4792-A6E1-C069F719F3C0}">
      <dgm:prSet/>
      <dgm:spPr/>
      <dgm:t>
        <a:bodyPr/>
        <a:lstStyle/>
        <a:p>
          <a:endParaRPr lang="en-US" sz="2400"/>
        </a:p>
      </dgm:t>
    </dgm:pt>
    <dgm:pt modelId="{077B6637-A032-4D3C-AB87-AFDC9ABA76FD}">
      <dgm:prSet custT="1"/>
      <dgm:spPr/>
      <dgm:t>
        <a:bodyPr/>
        <a:lstStyle/>
        <a:p>
          <a:r>
            <a:rPr lang="en-US" sz="3200"/>
            <a:t>Is NOT a measure of evidence</a:t>
          </a:r>
        </a:p>
      </dgm:t>
    </dgm:pt>
    <dgm:pt modelId="{0A2D9086-3AAF-4F77-BD38-6A56CE686C8C}" type="parTrans" cxnId="{4E337FE3-8001-4796-AAB7-D094DC799D25}">
      <dgm:prSet/>
      <dgm:spPr/>
      <dgm:t>
        <a:bodyPr/>
        <a:lstStyle/>
        <a:p>
          <a:endParaRPr lang="en-US" sz="2400"/>
        </a:p>
      </dgm:t>
    </dgm:pt>
    <dgm:pt modelId="{61D129B8-1FDD-4B59-AAE7-5A2C152179ED}" type="sibTrans" cxnId="{4E337FE3-8001-4796-AAB7-D094DC799D25}">
      <dgm:prSet/>
      <dgm:spPr/>
      <dgm:t>
        <a:bodyPr/>
        <a:lstStyle/>
        <a:p>
          <a:endParaRPr lang="en-US" sz="2400"/>
        </a:p>
      </dgm:t>
    </dgm:pt>
    <dgm:pt modelId="{399462A2-BA6A-42D2-9353-B63618950240}" type="pres">
      <dgm:prSet presAssocID="{4D3EA1A2-96C1-4FBC-9216-8344034D7E03}" presName="root" presStyleCnt="0">
        <dgm:presLayoutVars>
          <dgm:dir/>
          <dgm:resizeHandles val="exact"/>
        </dgm:presLayoutVars>
      </dgm:prSet>
      <dgm:spPr/>
    </dgm:pt>
    <dgm:pt modelId="{A6BA4DA3-FA46-4576-B6F8-C0543860D68C}" type="pres">
      <dgm:prSet presAssocID="{AAE69E20-2EA1-4F72-9E27-BCA2474B72BC}" presName="compNode" presStyleCnt="0"/>
      <dgm:spPr/>
    </dgm:pt>
    <dgm:pt modelId="{80C70940-5707-4FBE-B128-B8B39F864471}" type="pres">
      <dgm:prSet presAssocID="{AAE69E20-2EA1-4F72-9E27-BCA2474B72BC}" presName="bgRect" presStyleLbl="bgShp" presStyleIdx="0" presStyleCnt="3"/>
      <dgm:spPr/>
    </dgm:pt>
    <dgm:pt modelId="{DAEEEA10-2212-4D79-9768-4F783E7E1275}" type="pres">
      <dgm:prSet presAssocID="{AAE69E20-2EA1-4F72-9E27-BCA2474B72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58828AA2-2B1C-4A4D-990E-756C93EEEE59}" type="pres">
      <dgm:prSet presAssocID="{AAE69E20-2EA1-4F72-9E27-BCA2474B72BC}" presName="spaceRect" presStyleCnt="0"/>
      <dgm:spPr/>
    </dgm:pt>
    <dgm:pt modelId="{BE3A5020-3946-44BC-8226-E632E33F3549}" type="pres">
      <dgm:prSet presAssocID="{AAE69E20-2EA1-4F72-9E27-BCA2474B72BC}" presName="parTx" presStyleLbl="revTx" presStyleIdx="0" presStyleCnt="3">
        <dgm:presLayoutVars>
          <dgm:chMax val="0"/>
          <dgm:chPref val="0"/>
        </dgm:presLayoutVars>
      </dgm:prSet>
      <dgm:spPr/>
    </dgm:pt>
    <dgm:pt modelId="{B2CB470A-AE08-457B-81EC-145C177ADF1E}" type="pres">
      <dgm:prSet presAssocID="{1EBFB073-2FB6-48C1-ADDC-726F8064B2A1}" presName="sibTrans" presStyleCnt="0"/>
      <dgm:spPr/>
    </dgm:pt>
    <dgm:pt modelId="{F3625036-3886-4176-A219-587DC3779F56}" type="pres">
      <dgm:prSet presAssocID="{3BCEBEA5-E9C3-4B4A-BABB-AD3CFA78A748}" presName="compNode" presStyleCnt="0"/>
      <dgm:spPr/>
    </dgm:pt>
    <dgm:pt modelId="{A5BB28E1-BEEE-44B2-8349-909D6F8D1404}" type="pres">
      <dgm:prSet presAssocID="{3BCEBEA5-E9C3-4B4A-BABB-AD3CFA78A748}" presName="bgRect" presStyleLbl="bgShp" presStyleIdx="1" presStyleCnt="3"/>
      <dgm:spPr/>
    </dgm:pt>
    <dgm:pt modelId="{A0BAB361-DC54-4FF8-8BCE-574E689A9FAC}" type="pres">
      <dgm:prSet presAssocID="{3BCEBEA5-E9C3-4B4A-BABB-AD3CFA78A7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1BCCC449-A746-4007-A5E5-F8936CB78997}" type="pres">
      <dgm:prSet presAssocID="{3BCEBEA5-E9C3-4B4A-BABB-AD3CFA78A748}" presName="spaceRect" presStyleCnt="0"/>
      <dgm:spPr/>
    </dgm:pt>
    <dgm:pt modelId="{EBF64B34-1709-4D98-8224-30FD713E2144}" type="pres">
      <dgm:prSet presAssocID="{3BCEBEA5-E9C3-4B4A-BABB-AD3CFA78A748}" presName="parTx" presStyleLbl="revTx" presStyleIdx="1" presStyleCnt="3">
        <dgm:presLayoutVars>
          <dgm:chMax val="0"/>
          <dgm:chPref val="0"/>
        </dgm:presLayoutVars>
      </dgm:prSet>
      <dgm:spPr/>
    </dgm:pt>
    <dgm:pt modelId="{EF4BDCE5-D917-493E-8764-3115D638EAD4}" type="pres">
      <dgm:prSet presAssocID="{D628969E-71CE-42A9-8A13-D91352CE27F4}" presName="sibTrans" presStyleCnt="0"/>
      <dgm:spPr/>
    </dgm:pt>
    <dgm:pt modelId="{55B61775-AD58-4F47-BF84-AA5C03439B2D}" type="pres">
      <dgm:prSet presAssocID="{077B6637-A032-4D3C-AB87-AFDC9ABA76FD}" presName="compNode" presStyleCnt="0"/>
      <dgm:spPr/>
    </dgm:pt>
    <dgm:pt modelId="{A7ED27B7-61F9-401C-B0F1-2BF33F65C279}" type="pres">
      <dgm:prSet presAssocID="{077B6637-A032-4D3C-AB87-AFDC9ABA76FD}" presName="bgRect" presStyleLbl="bgShp" presStyleIdx="2" presStyleCnt="3"/>
      <dgm:spPr/>
    </dgm:pt>
    <dgm:pt modelId="{06392E06-3562-4209-8A9F-6E3DEC2731C5}" type="pres">
      <dgm:prSet presAssocID="{077B6637-A032-4D3C-AB87-AFDC9ABA76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004A36B-8BED-4E23-9683-6CAF46AEE550}" type="pres">
      <dgm:prSet presAssocID="{077B6637-A032-4D3C-AB87-AFDC9ABA76FD}" presName="spaceRect" presStyleCnt="0"/>
      <dgm:spPr/>
    </dgm:pt>
    <dgm:pt modelId="{4906997D-0770-49BD-ADF1-0CCA996885B6}" type="pres">
      <dgm:prSet presAssocID="{077B6637-A032-4D3C-AB87-AFDC9ABA76F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7587029-8899-4D07-8F36-53F97C85C5AF}" type="presOf" srcId="{077B6637-A032-4D3C-AB87-AFDC9ABA76FD}" destId="{4906997D-0770-49BD-ADF1-0CCA996885B6}" srcOrd="0" destOrd="0" presId="urn:microsoft.com/office/officeart/2018/2/layout/IconVerticalSolidList"/>
    <dgm:cxn modelId="{4AD8E168-1640-4FFA-A9D6-525FE46C42E9}" type="presOf" srcId="{3BCEBEA5-E9C3-4B4A-BABB-AD3CFA78A748}" destId="{EBF64B34-1709-4D98-8224-30FD713E2144}" srcOrd="0" destOrd="0" presId="urn:microsoft.com/office/officeart/2018/2/layout/IconVerticalSolidList"/>
    <dgm:cxn modelId="{CF6A23B1-3FBF-4792-A6E1-C069F719F3C0}" srcId="{4D3EA1A2-96C1-4FBC-9216-8344034D7E03}" destId="{3BCEBEA5-E9C3-4B4A-BABB-AD3CFA78A748}" srcOrd="1" destOrd="0" parTransId="{CD2561AA-9540-4B1D-B501-5AFC408BDFA7}" sibTransId="{D628969E-71CE-42A9-8A13-D91352CE27F4}"/>
    <dgm:cxn modelId="{2E88A3B8-00A0-455B-BDC0-E52713B73B0F}" type="presOf" srcId="{4D3EA1A2-96C1-4FBC-9216-8344034D7E03}" destId="{399462A2-BA6A-42D2-9353-B63618950240}" srcOrd="0" destOrd="0" presId="urn:microsoft.com/office/officeart/2018/2/layout/IconVerticalSolidList"/>
    <dgm:cxn modelId="{4E337FE3-8001-4796-AAB7-D094DC799D25}" srcId="{4D3EA1A2-96C1-4FBC-9216-8344034D7E03}" destId="{077B6637-A032-4D3C-AB87-AFDC9ABA76FD}" srcOrd="2" destOrd="0" parTransId="{0A2D9086-3AAF-4F77-BD38-6A56CE686C8C}" sibTransId="{61D129B8-1FDD-4B59-AAE7-5A2C152179ED}"/>
    <dgm:cxn modelId="{CA5C15EA-6D3A-4CC5-9E7D-12D468C54469}" srcId="{4D3EA1A2-96C1-4FBC-9216-8344034D7E03}" destId="{AAE69E20-2EA1-4F72-9E27-BCA2474B72BC}" srcOrd="0" destOrd="0" parTransId="{44B4B1C3-AA99-48E3-85EF-8D2C65825730}" sibTransId="{1EBFB073-2FB6-48C1-ADDC-726F8064B2A1}"/>
    <dgm:cxn modelId="{4EB573F7-5CDE-424B-90B8-8546D5CB482D}" type="presOf" srcId="{AAE69E20-2EA1-4F72-9E27-BCA2474B72BC}" destId="{BE3A5020-3946-44BC-8226-E632E33F3549}" srcOrd="0" destOrd="0" presId="urn:microsoft.com/office/officeart/2018/2/layout/IconVerticalSolidList"/>
    <dgm:cxn modelId="{556F00B3-F11D-499A-82F1-30F2DF780CE0}" type="presParOf" srcId="{399462A2-BA6A-42D2-9353-B63618950240}" destId="{A6BA4DA3-FA46-4576-B6F8-C0543860D68C}" srcOrd="0" destOrd="0" presId="urn:microsoft.com/office/officeart/2018/2/layout/IconVerticalSolidList"/>
    <dgm:cxn modelId="{E6B48160-8B86-4BFD-AF30-57961C12A398}" type="presParOf" srcId="{A6BA4DA3-FA46-4576-B6F8-C0543860D68C}" destId="{80C70940-5707-4FBE-B128-B8B39F864471}" srcOrd="0" destOrd="0" presId="urn:microsoft.com/office/officeart/2018/2/layout/IconVerticalSolidList"/>
    <dgm:cxn modelId="{523AC930-9F6F-4C7F-96B1-90DCB7C7A303}" type="presParOf" srcId="{A6BA4DA3-FA46-4576-B6F8-C0543860D68C}" destId="{DAEEEA10-2212-4D79-9768-4F783E7E1275}" srcOrd="1" destOrd="0" presId="urn:microsoft.com/office/officeart/2018/2/layout/IconVerticalSolidList"/>
    <dgm:cxn modelId="{41FE88B9-88A8-431D-B15F-43678938FA48}" type="presParOf" srcId="{A6BA4DA3-FA46-4576-B6F8-C0543860D68C}" destId="{58828AA2-2B1C-4A4D-990E-756C93EEEE59}" srcOrd="2" destOrd="0" presId="urn:microsoft.com/office/officeart/2018/2/layout/IconVerticalSolidList"/>
    <dgm:cxn modelId="{5D88DB95-33BE-4786-BC4E-A3F731BA7C1C}" type="presParOf" srcId="{A6BA4DA3-FA46-4576-B6F8-C0543860D68C}" destId="{BE3A5020-3946-44BC-8226-E632E33F3549}" srcOrd="3" destOrd="0" presId="urn:microsoft.com/office/officeart/2018/2/layout/IconVerticalSolidList"/>
    <dgm:cxn modelId="{EEC9FB8C-2D59-49E5-846F-6701AE17644E}" type="presParOf" srcId="{399462A2-BA6A-42D2-9353-B63618950240}" destId="{B2CB470A-AE08-457B-81EC-145C177ADF1E}" srcOrd="1" destOrd="0" presId="urn:microsoft.com/office/officeart/2018/2/layout/IconVerticalSolidList"/>
    <dgm:cxn modelId="{57ED0417-2CC6-4C0E-B587-8D93F9FC476A}" type="presParOf" srcId="{399462A2-BA6A-42D2-9353-B63618950240}" destId="{F3625036-3886-4176-A219-587DC3779F56}" srcOrd="2" destOrd="0" presId="urn:microsoft.com/office/officeart/2018/2/layout/IconVerticalSolidList"/>
    <dgm:cxn modelId="{24606609-77A3-48BE-A282-B203DEC9835B}" type="presParOf" srcId="{F3625036-3886-4176-A219-587DC3779F56}" destId="{A5BB28E1-BEEE-44B2-8349-909D6F8D1404}" srcOrd="0" destOrd="0" presId="urn:microsoft.com/office/officeart/2018/2/layout/IconVerticalSolidList"/>
    <dgm:cxn modelId="{4464D30B-5D03-4C4D-BCFA-22AD741E6EE8}" type="presParOf" srcId="{F3625036-3886-4176-A219-587DC3779F56}" destId="{A0BAB361-DC54-4FF8-8BCE-574E689A9FAC}" srcOrd="1" destOrd="0" presId="urn:microsoft.com/office/officeart/2018/2/layout/IconVerticalSolidList"/>
    <dgm:cxn modelId="{EB482E72-2CBC-49DC-841A-F285236DA16A}" type="presParOf" srcId="{F3625036-3886-4176-A219-587DC3779F56}" destId="{1BCCC449-A746-4007-A5E5-F8936CB78997}" srcOrd="2" destOrd="0" presId="urn:microsoft.com/office/officeart/2018/2/layout/IconVerticalSolidList"/>
    <dgm:cxn modelId="{A4977DE3-F96C-43AF-AC54-4D7A106164F5}" type="presParOf" srcId="{F3625036-3886-4176-A219-587DC3779F56}" destId="{EBF64B34-1709-4D98-8224-30FD713E2144}" srcOrd="3" destOrd="0" presId="urn:microsoft.com/office/officeart/2018/2/layout/IconVerticalSolidList"/>
    <dgm:cxn modelId="{51B1162B-AE8D-4F2C-9E73-934C2F85BB49}" type="presParOf" srcId="{399462A2-BA6A-42D2-9353-B63618950240}" destId="{EF4BDCE5-D917-493E-8764-3115D638EAD4}" srcOrd="3" destOrd="0" presId="urn:microsoft.com/office/officeart/2018/2/layout/IconVerticalSolidList"/>
    <dgm:cxn modelId="{83D33C4C-0D9A-44BE-B453-DD1B151EE8AA}" type="presParOf" srcId="{399462A2-BA6A-42D2-9353-B63618950240}" destId="{55B61775-AD58-4F47-BF84-AA5C03439B2D}" srcOrd="4" destOrd="0" presId="urn:microsoft.com/office/officeart/2018/2/layout/IconVerticalSolidList"/>
    <dgm:cxn modelId="{4023D8D4-9A99-42A1-BF04-28756FCAAEB1}" type="presParOf" srcId="{55B61775-AD58-4F47-BF84-AA5C03439B2D}" destId="{A7ED27B7-61F9-401C-B0F1-2BF33F65C279}" srcOrd="0" destOrd="0" presId="urn:microsoft.com/office/officeart/2018/2/layout/IconVerticalSolidList"/>
    <dgm:cxn modelId="{5A95911A-6B06-443A-B878-54BB64F4B528}" type="presParOf" srcId="{55B61775-AD58-4F47-BF84-AA5C03439B2D}" destId="{06392E06-3562-4209-8A9F-6E3DEC2731C5}" srcOrd="1" destOrd="0" presId="urn:microsoft.com/office/officeart/2018/2/layout/IconVerticalSolidList"/>
    <dgm:cxn modelId="{B468AD02-D864-48D4-A391-140E69C47E73}" type="presParOf" srcId="{55B61775-AD58-4F47-BF84-AA5C03439B2D}" destId="{6004A36B-8BED-4E23-9683-6CAF46AEE550}" srcOrd="2" destOrd="0" presId="urn:microsoft.com/office/officeart/2018/2/layout/IconVerticalSolidList"/>
    <dgm:cxn modelId="{3FDBED86-74F1-4FD8-82A9-318EA26ABE2B}" type="presParOf" srcId="{55B61775-AD58-4F47-BF84-AA5C03439B2D}" destId="{4906997D-0770-49BD-ADF1-0CCA996885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45E240-FC67-4AC4-BB24-50C549D31E8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A43362D-68F6-4403-824F-83FFC0224F7B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Effect sizes</a:t>
          </a:r>
        </a:p>
      </dgm:t>
    </dgm:pt>
    <dgm:pt modelId="{A98D909B-A267-4BF6-8138-DC5477EBC1B8}" type="parTrans" cxnId="{8DF31E4F-73D6-450D-85AB-D72003CFCD0A}">
      <dgm:prSet/>
      <dgm:spPr/>
      <dgm:t>
        <a:bodyPr/>
        <a:lstStyle/>
        <a:p>
          <a:endParaRPr lang="en-US" sz="1800"/>
        </a:p>
      </dgm:t>
    </dgm:pt>
    <dgm:pt modelId="{DC96ECDF-3A2F-4B88-B21C-1765E306E1BE}" type="sibTrans" cxnId="{8DF31E4F-73D6-450D-85AB-D72003CFCD0A}">
      <dgm:prSet/>
      <dgm:spPr/>
      <dgm:t>
        <a:bodyPr/>
        <a:lstStyle/>
        <a:p>
          <a:endParaRPr lang="en-US" sz="1800"/>
        </a:p>
      </dgm:t>
    </dgm:pt>
    <dgm:pt modelId="{0D77B547-D8CD-4B61-ACAD-F9482FDF44D0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Confidence intervals</a:t>
          </a:r>
        </a:p>
      </dgm:t>
    </dgm:pt>
    <dgm:pt modelId="{7F4F6481-2A2A-4643-BD9B-86F8A4EB93EE}" type="parTrans" cxnId="{1901B498-7D79-4330-826A-F133353E9432}">
      <dgm:prSet/>
      <dgm:spPr/>
      <dgm:t>
        <a:bodyPr/>
        <a:lstStyle/>
        <a:p>
          <a:endParaRPr lang="en-US" sz="1800"/>
        </a:p>
      </dgm:t>
    </dgm:pt>
    <dgm:pt modelId="{E20D7987-B596-450D-8714-12D438E68406}" type="sibTrans" cxnId="{1901B498-7D79-4330-826A-F133353E9432}">
      <dgm:prSet/>
      <dgm:spPr/>
      <dgm:t>
        <a:bodyPr/>
        <a:lstStyle/>
        <a:p>
          <a:endParaRPr lang="en-US" sz="1800"/>
        </a:p>
      </dgm:t>
    </dgm:pt>
    <dgm:pt modelId="{231CDD68-A5D3-4045-950E-D08180094745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Prediction intervals</a:t>
          </a:r>
        </a:p>
      </dgm:t>
    </dgm:pt>
    <dgm:pt modelId="{DD3A6270-BEB9-4215-88B0-737EB3A33C5A}" type="parTrans" cxnId="{4E623B67-7378-486E-B3C5-07BAE157A86A}">
      <dgm:prSet/>
      <dgm:spPr/>
      <dgm:t>
        <a:bodyPr/>
        <a:lstStyle/>
        <a:p>
          <a:endParaRPr lang="en-US" sz="1800"/>
        </a:p>
      </dgm:t>
    </dgm:pt>
    <dgm:pt modelId="{4840B225-0014-4D34-9F24-2C3F4DB2D2E3}" type="sibTrans" cxnId="{4E623B67-7378-486E-B3C5-07BAE157A86A}">
      <dgm:prSet/>
      <dgm:spPr/>
      <dgm:t>
        <a:bodyPr/>
        <a:lstStyle/>
        <a:p>
          <a:endParaRPr lang="en-US" sz="1800"/>
        </a:p>
      </dgm:t>
    </dgm:pt>
    <dgm:pt modelId="{746D80A5-1DEB-4599-8782-4E77857C1A99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Interpret against thresholds</a:t>
          </a:r>
        </a:p>
      </dgm:t>
    </dgm:pt>
    <dgm:pt modelId="{9913BB23-937E-4B85-8908-BEA8482F8B3F}" type="parTrans" cxnId="{CE33FE5C-B2FE-438D-9846-43124C3FDAEE}">
      <dgm:prSet/>
      <dgm:spPr/>
      <dgm:t>
        <a:bodyPr/>
        <a:lstStyle/>
        <a:p>
          <a:endParaRPr lang="en-US" sz="1800"/>
        </a:p>
      </dgm:t>
    </dgm:pt>
    <dgm:pt modelId="{363CA1C4-0ED1-4B13-AB43-EABEECA46BAE}" type="sibTrans" cxnId="{CE33FE5C-B2FE-438D-9846-43124C3FDAEE}">
      <dgm:prSet/>
      <dgm:spPr/>
      <dgm:t>
        <a:bodyPr/>
        <a:lstStyle/>
        <a:p>
          <a:endParaRPr lang="en-US" sz="1800"/>
        </a:p>
      </dgm:t>
    </dgm:pt>
    <dgm:pt modelId="{A308C2C6-CE6D-45D1-86E0-D83077D1BE07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Clinically meaningful</a:t>
          </a:r>
        </a:p>
      </dgm:t>
    </dgm:pt>
    <dgm:pt modelId="{ED6CCAFA-E61B-476D-BB4D-40CE6B335ABE}" type="parTrans" cxnId="{CBDDD4A9-91BC-420B-A2AC-18302BF9D45F}">
      <dgm:prSet/>
      <dgm:spPr/>
      <dgm:t>
        <a:bodyPr/>
        <a:lstStyle/>
        <a:p>
          <a:endParaRPr lang="en-US" sz="1800"/>
        </a:p>
      </dgm:t>
    </dgm:pt>
    <dgm:pt modelId="{1317EB20-6DAD-4BB0-B780-6067AA37A479}" type="sibTrans" cxnId="{CBDDD4A9-91BC-420B-A2AC-18302BF9D45F}">
      <dgm:prSet/>
      <dgm:spPr/>
      <dgm:t>
        <a:bodyPr/>
        <a:lstStyle/>
        <a:p>
          <a:endParaRPr lang="en-US" sz="1800"/>
        </a:p>
      </dgm:t>
    </dgm:pt>
    <dgm:pt modelId="{1DBF41F3-E365-4595-9FCC-72236BF77167}">
      <dgm:prSet custT="1"/>
      <dgm:spPr/>
      <dgm:t>
        <a:bodyPr/>
        <a:lstStyle/>
        <a:p>
          <a:pPr>
            <a:defRPr cap="all"/>
          </a:pPr>
          <a:r>
            <a:rPr lang="en-US" sz="2400" b="1" dirty="0"/>
            <a:t>Scientific importance</a:t>
          </a:r>
        </a:p>
      </dgm:t>
    </dgm:pt>
    <dgm:pt modelId="{543119DD-0D77-4388-B23B-C1F5AB5B3192}" type="parTrans" cxnId="{18FE6883-DD07-4AEE-97FE-C54D4922B041}">
      <dgm:prSet/>
      <dgm:spPr/>
      <dgm:t>
        <a:bodyPr/>
        <a:lstStyle/>
        <a:p>
          <a:endParaRPr lang="en-US" sz="1800"/>
        </a:p>
      </dgm:t>
    </dgm:pt>
    <dgm:pt modelId="{878AE7DD-411F-4F50-8CB0-E415E61D69B7}" type="sibTrans" cxnId="{18FE6883-DD07-4AEE-97FE-C54D4922B041}">
      <dgm:prSet/>
      <dgm:spPr/>
      <dgm:t>
        <a:bodyPr/>
        <a:lstStyle/>
        <a:p>
          <a:endParaRPr lang="en-US" sz="1800"/>
        </a:p>
      </dgm:t>
    </dgm:pt>
    <dgm:pt modelId="{EDDEA1A2-1F12-42E2-9AB8-B43FCC9CA51B}" type="pres">
      <dgm:prSet presAssocID="{5A45E240-FC67-4AC4-BB24-50C549D31E83}" presName="root" presStyleCnt="0">
        <dgm:presLayoutVars>
          <dgm:dir/>
          <dgm:resizeHandles val="exact"/>
        </dgm:presLayoutVars>
      </dgm:prSet>
      <dgm:spPr/>
    </dgm:pt>
    <dgm:pt modelId="{F4ABB3D6-F3F4-4509-9D54-FB9D9C8CE201}" type="pres">
      <dgm:prSet presAssocID="{6A43362D-68F6-4403-824F-83FFC0224F7B}" presName="compNode" presStyleCnt="0"/>
      <dgm:spPr/>
    </dgm:pt>
    <dgm:pt modelId="{AF12B837-C66E-4398-9A59-3E221ACC2BCA}" type="pres">
      <dgm:prSet presAssocID="{6A43362D-68F6-4403-824F-83FFC0224F7B}" presName="iconBgRect" presStyleLbl="bgShp" presStyleIdx="0" presStyleCnt="6"/>
      <dgm:spPr/>
    </dgm:pt>
    <dgm:pt modelId="{2885D4C7-4B42-4347-888D-852284DA9F33}" type="pres">
      <dgm:prSet presAssocID="{6A43362D-68F6-4403-824F-83FFC0224F7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 and gear"/>
        </a:ext>
      </dgm:extLst>
    </dgm:pt>
    <dgm:pt modelId="{46B2E8DA-E187-42CA-BE3A-47F152961952}" type="pres">
      <dgm:prSet presAssocID="{6A43362D-68F6-4403-824F-83FFC0224F7B}" presName="spaceRect" presStyleCnt="0"/>
      <dgm:spPr/>
    </dgm:pt>
    <dgm:pt modelId="{9297496E-08CB-42BA-8F0E-2F8588525749}" type="pres">
      <dgm:prSet presAssocID="{6A43362D-68F6-4403-824F-83FFC0224F7B}" presName="textRect" presStyleLbl="revTx" presStyleIdx="0" presStyleCnt="6">
        <dgm:presLayoutVars>
          <dgm:chMax val="1"/>
          <dgm:chPref val="1"/>
        </dgm:presLayoutVars>
      </dgm:prSet>
      <dgm:spPr/>
    </dgm:pt>
    <dgm:pt modelId="{B0F30AB1-0B81-4B23-A376-0E71FBA90DAE}" type="pres">
      <dgm:prSet presAssocID="{DC96ECDF-3A2F-4B88-B21C-1765E306E1BE}" presName="sibTrans" presStyleCnt="0"/>
      <dgm:spPr/>
    </dgm:pt>
    <dgm:pt modelId="{B5352A53-94AB-4CC5-9DCF-7B4067B34C3E}" type="pres">
      <dgm:prSet presAssocID="{0D77B547-D8CD-4B61-ACAD-F9482FDF44D0}" presName="compNode" presStyleCnt="0"/>
      <dgm:spPr/>
    </dgm:pt>
    <dgm:pt modelId="{6D38F707-60EC-44F5-A1ED-F23C904FFAB8}" type="pres">
      <dgm:prSet presAssocID="{0D77B547-D8CD-4B61-ACAD-F9482FDF44D0}" presName="iconBgRect" presStyleLbl="bgShp" presStyleIdx="1" presStyleCnt="6"/>
      <dgm:spPr/>
    </dgm:pt>
    <dgm:pt modelId="{6633DAA0-41F7-4F3B-9B80-BF1651BB00B2}" type="pres">
      <dgm:prSet presAssocID="{0D77B547-D8CD-4B61-ACAD-F9482FDF44D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8182415-10EA-4D7E-B352-A094CFA81B47}" type="pres">
      <dgm:prSet presAssocID="{0D77B547-D8CD-4B61-ACAD-F9482FDF44D0}" presName="spaceRect" presStyleCnt="0"/>
      <dgm:spPr/>
    </dgm:pt>
    <dgm:pt modelId="{FF45210B-A21D-4C2A-A376-37BE1A55F054}" type="pres">
      <dgm:prSet presAssocID="{0D77B547-D8CD-4B61-ACAD-F9482FDF44D0}" presName="textRect" presStyleLbl="revTx" presStyleIdx="1" presStyleCnt="6">
        <dgm:presLayoutVars>
          <dgm:chMax val="1"/>
          <dgm:chPref val="1"/>
        </dgm:presLayoutVars>
      </dgm:prSet>
      <dgm:spPr/>
    </dgm:pt>
    <dgm:pt modelId="{9C3940E2-4544-4A49-BED1-C3937A55CA4F}" type="pres">
      <dgm:prSet presAssocID="{E20D7987-B596-450D-8714-12D438E68406}" presName="sibTrans" presStyleCnt="0"/>
      <dgm:spPr/>
    </dgm:pt>
    <dgm:pt modelId="{1F2BCAF1-C398-411D-B89B-639F5D493AB3}" type="pres">
      <dgm:prSet presAssocID="{231CDD68-A5D3-4045-950E-D08180094745}" presName="compNode" presStyleCnt="0"/>
      <dgm:spPr/>
    </dgm:pt>
    <dgm:pt modelId="{66B84ACB-08E1-4B52-99F9-30527D7CF1AD}" type="pres">
      <dgm:prSet presAssocID="{231CDD68-A5D3-4045-950E-D08180094745}" presName="iconBgRect" presStyleLbl="bgShp" presStyleIdx="2" presStyleCnt="6"/>
      <dgm:spPr/>
    </dgm:pt>
    <dgm:pt modelId="{2D6FE71E-DBB1-47C4-A0E0-F725A3DD66DC}" type="pres">
      <dgm:prSet presAssocID="{231CDD68-A5D3-4045-950E-D0818009474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8BB2D7C-8A70-4A44-8995-72074EB20361}" type="pres">
      <dgm:prSet presAssocID="{231CDD68-A5D3-4045-950E-D08180094745}" presName="spaceRect" presStyleCnt="0"/>
      <dgm:spPr/>
    </dgm:pt>
    <dgm:pt modelId="{5452F784-5D59-44F6-8949-8354A1D3F474}" type="pres">
      <dgm:prSet presAssocID="{231CDD68-A5D3-4045-950E-D08180094745}" presName="textRect" presStyleLbl="revTx" presStyleIdx="2" presStyleCnt="6">
        <dgm:presLayoutVars>
          <dgm:chMax val="1"/>
          <dgm:chPref val="1"/>
        </dgm:presLayoutVars>
      </dgm:prSet>
      <dgm:spPr/>
    </dgm:pt>
    <dgm:pt modelId="{E451F447-8836-4731-8FE4-3E7DFF36728A}" type="pres">
      <dgm:prSet presAssocID="{4840B225-0014-4D34-9F24-2C3F4DB2D2E3}" presName="sibTrans" presStyleCnt="0"/>
      <dgm:spPr/>
    </dgm:pt>
    <dgm:pt modelId="{D0963547-2FCE-42C7-9D26-C31034931DE1}" type="pres">
      <dgm:prSet presAssocID="{746D80A5-1DEB-4599-8782-4E77857C1A99}" presName="compNode" presStyleCnt="0"/>
      <dgm:spPr/>
    </dgm:pt>
    <dgm:pt modelId="{A3E9D01D-2D60-4313-8000-CD427CB9B1C5}" type="pres">
      <dgm:prSet presAssocID="{746D80A5-1DEB-4599-8782-4E77857C1A99}" presName="iconBgRect" presStyleLbl="bgShp" presStyleIdx="3" presStyleCnt="6"/>
      <dgm:spPr/>
    </dgm:pt>
    <dgm:pt modelId="{D63460F3-8A62-4E8E-9002-DE1F2091F150}" type="pres">
      <dgm:prSet presAssocID="{746D80A5-1DEB-4599-8782-4E77857C1A9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661F63A9-E00B-44EA-A1E4-5832762873FD}" type="pres">
      <dgm:prSet presAssocID="{746D80A5-1DEB-4599-8782-4E77857C1A99}" presName="spaceRect" presStyleCnt="0"/>
      <dgm:spPr/>
    </dgm:pt>
    <dgm:pt modelId="{A626AB59-6403-4989-8F7B-33EE1640154A}" type="pres">
      <dgm:prSet presAssocID="{746D80A5-1DEB-4599-8782-4E77857C1A99}" presName="textRect" presStyleLbl="revTx" presStyleIdx="3" presStyleCnt="6">
        <dgm:presLayoutVars>
          <dgm:chMax val="1"/>
          <dgm:chPref val="1"/>
        </dgm:presLayoutVars>
      </dgm:prSet>
      <dgm:spPr/>
    </dgm:pt>
    <dgm:pt modelId="{0D49D8D6-291D-406A-9D37-06206186CD24}" type="pres">
      <dgm:prSet presAssocID="{363CA1C4-0ED1-4B13-AB43-EABEECA46BAE}" presName="sibTrans" presStyleCnt="0"/>
      <dgm:spPr/>
    </dgm:pt>
    <dgm:pt modelId="{95FE0DF0-6F99-49A0-B8BE-5A7961193E4B}" type="pres">
      <dgm:prSet presAssocID="{A308C2C6-CE6D-45D1-86E0-D83077D1BE07}" presName="compNode" presStyleCnt="0"/>
      <dgm:spPr/>
    </dgm:pt>
    <dgm:pt modelId="{5462D7C7-7F42-4E81-A745-1D680E2196B1}" type="pres">
      <dgm:prSet presAssocID="{A308C2C6-CE6D-45D1-86E0-D83077D1BE07}" presName="iconBgRect" presStyleLbl="bgShp" presStyleIdx="4" presStyleCnt="6"/>
      <dgm:spPr/>
    </dgm:pt>
    <dgm:pt modelId="{EC0A2368-6C5A-464D-9AE3-7E7E912D864F}" type="pres">
      <dgm:prSet presAssocID="{A308C2C6-CE6D-45D1-86E0-D83077D1BE0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BA04B33C-3A0D-4157-A028-90BEEF5D7C89}" type="pres">
      <dgm:prSet presAssocID="{A308C2C6-CE6D-45D1-86E0-D83077D1BE07}" presName="spaceRect" presStyleCnt="0"/>
      <dgm:spPr/>
    </dgm:pt>
    <dgm:pt modelId="{A73B7387-F2D5-4BEF-90D8-0E73413C3322}" type="pres">
      <dgm:prSet presAssocID="{A308C2C6-CE6D-45D1-86E0-D83077D1BE07}" presName="textRect" presStyleLbl="revTx" presStyleIdx="4" presStyleCnt="6">
        <dgm:presLayoutVars>
          <dgm:chMax val="1"/>
          <dgm:chPref val="1"/>
        </dgm:presLayoutVars>
      </dgm:prSet>
      <dgm:spPr/>
    </dgm:pt>
    <dgm:pt modelId="{BC640414-C833-4472-8DD9-858B390606CC}" type="pres">
      <dgm:prSet presAssocID="{1317EB20-6DAD-4BB0-B780-6067AA37A479}" presName="sibTrans" presStyleCnt="0"/>
      <dgm:spPr/>
    </dgm:pt>
    <dgm:pt modelId="{0E7C683C-7453-4844-AD11-FD8D9FCB92FC}" type="pres">
      <dgm:prSet presAssocID="{1DBF41F3-E365-4595-9FCC-72236BF77167}" presName="compNode" presStyleCnt="0"/>
      <dgm:spPr/>
    </dgm:pt>
    <dgm:pt modelId="{E2045208-21BD-44CE-AA09-28D49B6EEDE4}" type="pres">
      <dgm:prSet presAssocID="{1DBF41F3-E365-4595-9FCC-72236BF77167}" presName="iconBgRect" presStyleLbl="bgShp" presStyleIdx="5" presStyleCnt="6"/>
      <dgm:spPr/>
    </dgm:pt>
    <dgm:pt modelId="{E049C042-F3C3-4A01-8F23-9CBA4079D145}" type="pres">
      <dgm:prSet presAssocID="{1DBF41F3-E365-4595-9FCC-72236BF7716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8E0788E4-5FEF-4DDA-AF2B-10CCAA7FF58A}" type="pres">
      <dgm:prSet presAssocID="{1DBF41F3-E365-4595-9FCC-72236BF77167}" presName="spaceRect" presStyleCnt="0"/>
      <dgm:spPr/>
    </dgm:pt>
    <dgm:pt modelId="{2853ADD1-5E38-4F8C-9EC0-ADE6D32AFDCF}" type="pres">
      <dgm:prSet presAssocID="{1DBF41F3-E365-4595-9FCC-72236BF7716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9FF5726-0DA8-4CA8-BEA8-D2AF72D77D72}" type="presOf" srcId="{231CDD68-A5D3-4045-950E-D08180094745}" destId="{5452F784-5D59-44F6-8949-8354A1D3F474}" srcOrd="0" destOrd="0" presId="urn:microsoft.com/office/officeart/2018/5/layout/IconCircleLabelList"/>
    <dgm:cxn modelId="{CE33FE5C-B2FE-438D-9846-43124C3FDAEE}" srcId="{5A45E240-FC67-4AC4-BB24-50C549D31E83}" destId="{746D80A5-1DEB-4599-8782-4E77857C1A99}" srcOrd="3" destOrd="0" parTransId="{9913BB23-937E-4B85-8908-BEA8482F8B3F}" sibTransId="{363CA1C4-0ED1-4B13-AB43-EABEECA46BAE}"/>
    <dgm:cxn modelId="{5BFBA560-BAC0-4428-AFA1-734D43E779BB}" type="presOf" srcId="{746D80A5-1DEB-4599-8782-4E77857C1A99}" destId="{A626AB59-6403-4989-8F7B-33EE1640154A}" srcOrd="0" destOrd="0" presId="urn:microsoft.com/office/officeart/2018/5/layout/IconCircleLabelList"/>
    <dgm:cxn modelId="{4E623B67-7378-486E-B3C5-07BAE157A86A}" srcId="{5A45E240-FC67-4AC4-BB24-50C549D31E83}" destId="{231CDD68-A5D3-4045-950E-D08180094745}" srcOrd="2" destOrd="0" parTransId="{DD3A6270-BEB9-4215-88B0-737EB3A33C5A}" sibTransId="{4840B225-0014-4D34-9F24-2C3F4DB2D2E3}"/>
    <dgm:cxn modelId="{8DF31E4F-73D6-450D-85AB-D72003CFCD0A}" srcId="{5A45E240-FC67-4AC4-BB24-50C549D31E83}" destId="{6A43362D-68F6-4403-824F-83FFC0224F7B}" srcOrd="0" destOrd="0" parTransId="{A98D909B-A267-4BF6-8138-DC5477EBC1B8}" sibTransId="{DC96ECDF-3A2F-4B88-B21C-1765E306E1BE}"/>
    <dgm:cxn modelId="{DBDF577A-4AAF-4871-BA94-C04484D35A45}" type="presOf" srcId="{0D77B547-D8CD-4B61-ACAD-F9482FDF44D0}" destId="{FF45210B-A21D-4C2A-A376-37BE1A55F054}" srcOrd="0" destOrd="0" presId="urn:microsoft.com/office/officeart/2018/5/layout/IconCircleLabelList"/>
    <dgm:cxn modelId="{18FE6883-DD07-4AEE-97FE-C54D4922B041}" srcId="{5A45E240-FC67-4AC4-BB24-50C549D31E83}" destId="{1DBF41F3-E365-4595-9FCC-72236BF77167}" srcOrd="5" destOrd="0" parTransId="{543119DD-0D77-4388-B23B-C1F5AB5B3192}" sibTransId="{878AE7DD-411F-4F50-8CB0-E415E61D69B7}"/>
    <dgm:cxn modelId="{565A5195-E1F0-4501-86F7-6659464C3860}" type="presOf" srcId="{6A43362D-68F6-4403-824F-83FFC0224F7B}" destId="{9297496E-08CB-42BA-8F0E-2F8588525749}" srcOrd="0" destOrd="0" presId="urn:microsoft.com/office/officeart/2018/5/layout/IconCircleLabelList"/>
    <dgm:cxn modelId="{1901B498-7D79-4330-826A-F133353E9432}" srcId="{5A45E240-FC67-4AC4-BB24-50C549D31E83}" destId="{0D77B547-D8CD-4B61-ACAD-F9482FDF44D0}" srcOrd="1" destOrd="0" parTransId="{7F4F6481-2A2A-4643-BD9B-86F8A4EB93EE}" sibTransId="{E20D7987-B596-450D-8714-12D438E68406}"/>
    <dgm:cxn modelId="{CBDDD4A9-91BC-420B-A2AC-18302BF9D45F}" srcId="{5A45E240-FC67-4AC4-BB24-50C549D31E83}" destId="{A308C2C6-CE6D-45D1-86E0-D83077D1BE07}" srcOrd="4" destOrd="0" parTransId="{ED6CCAFA-E61B-476D-BB4D-40CE6B335ABE}" sibTransId="{1317EB20-6DAD-4BB0-B780-6067AA37A479}"/>
    <dgm:cxn modelId="{E89F89C3-13D5-41D2-AC3B-79EAD6F7B1C5}" type="presOf" srcId="{5A45E240-FC67-4AC4-BB24-50C549D31E83}" destId="{EDDEA1A2-1F12-42E2-9AB8-B43FCC9CA51B}" srcOrd="0" destOrd="0" presId="urn:microsoft.com/office/officeart/2018/5/layout/IconCircleLabelList"/>
    <dgm:cxn modelId="{02AAF6DE-99A5-4A9B-8900-AF080F9731D9}" type="presOf" srcId="{1DBF41F3-E365-4595-9FCC-72236BF77167}" destId="{2853ADD1-5E38-4F8C-9EC0-ADE6D32AFDCF}" srcOrd="0" destOrd="0" presId="urn:microsoft.com/office/officeart/2018/5/layout/IconCircleLabelList"/>
    <dgm:cxn modelId="{822CCEE4-EB7D-46DB-9A8E-56B26F512E9B}" type="presOf" srcId="{A308C2C6-CE6D-45D1-86E0-D83077D1BE07}" destId="{A73B7387-F2D5-4BEF-90D8-0E73413C3322}" srcOrd="0" destOrd="0" presId="urn:microsoft.com/office/officeart/2018/5/layout/IconCircleLabelList"/>
    <dgm:cxn modelId="{08BA65A0-9B5A-4671-A218-95FA9B9F24C4}" type="presParOf" srcId="{EDDEA1A2-1F12-42E2-9AB8-B43FCC9CA51B}" destId="{F4ABB3D6-F3F4-4509-9D54-FB9D9C8CE201}" srcOrd="0" destOrd="0" presId="urn:microsoft.com/office/officeart/2018/5/layout/IconCircleLabelList"/>
    <dgm:cxn modelId="{2238A9E1-A585-4422-A5AD-B57AE31A7E97}" type="presParOf" srcId="{F4ABB3D6-F3F4-4509-9D54-FB9D9C8CE201}" destId="{AF12B837-C66E-4398-9A59-3E221ACC2BCA}" srcOrd="0" destOrd="0" presId="urn:microsoft.com/office/officeart/2018/5/layout/IconCircleLabelList"/>
    <dgm:cxn modelId="{5EB38720-EEF4-4651-8B05-AD0F67B12573}" type="presParOf" srcId="{F4ABB3D6-F3F4-4509-9D54-FB9D9C8CE201}" destId="{2885D4C7-4B42-4347-888D-852284DA9F33}" srcOrd="1" destOrd="0" presId="urn:microsoft.com/office/officeart/2018/5/layout/IconCircleLabelList"/>
    <dgm:cxn modelId="{4B5B5B53-3AD6-4767-AA45-42FE4E8B727F}" type="presParOf" srcId="{F4ABB3D6-F3F4-4509-9D54-FB9D9C8CE201}" destId="{46B2E8DA-E187-42CA-BE3A-47F152961952}" srcOrd="2" destOrd="0" presId="urn:microsoft.com/office/officeart/2018/5/layout/IconCircleLabelList"/>
    <dgm:cxn modelId="{FD75CFCE-6B87-495A-8F5A-B487ECEEC7A4}" type="presParOf" srcId="{F4ABB3D6-F3F4-4509-9D54-FB9D9C8CE201}" destId="{9297496E-08CB-42BA-8F0E-2F8588525749}" srcOrd="3" destOrd="0" presId="urn:microsoft.com/office/officeart/2018/5/layout/IconCircleLabelList"/>
    <dgm:cxn modelId="{66784AAD-74FE-40DF-ACD0-C81FC6BA8334}" type="presParOf" srcId="{EDDEA1A2-1F12-42E2-9AB8-B43FCC9CA51B}" destId="{B0F30AB1-0B81-4B23-A376-0E71FBA90DAE}" srcOrd="1" destOrd="0" presId="urn:microsoft.com/office/officeart/2018/5/layout/IconCircleLabelList"/>
    <dgm:cxn modelId="{8E0395FD-AFA3-4769-B675-AABE32EC019F}" type="presParOf" srcId="{EDDEA1A2-1F12-42E2-9AB8-B43FCC9CA51B}" destId="{B5352A53-94AB-4CC5-9DCF-7B4067B34C3E}" srcOrd="2" destOrd="0" presId="urn:microsoft.com/office/officeart/2018/5/layout/IconCircleLabelList"/>
    <dgm:cxn modelId="{1B2A6F9B-AAB5-464E-93F8-A42284AD7418}" type="presParOf" srcId="{B5352A53-94AB-4CC5-9DCF-7B4067B34C3E}" destId="{6D38F707-60EC-44F5-A1ED-F23C904FFAB8}" srcOrd="0" destOrd="0" presId="urn:microsoft.com/office/officeart/2018/5/layout/IconCircleLabelList"/>
    <dgm:cxn modelId="{65F77AC2-B369-4503-8DB1-4FE0F848D009}" type="presParOf" srcId="{B5352A53-94AB-4CC5-9DCF-7B4067B34C3E}" destId="{6633DAA0-41F7-4F3B-9B80-BF1651BB00B2}" srcOrd="1" destOrd="0" presId="urn:microsoft.com/office/officeart/2018/5/layout/IconCircleLabelList"/>
    <dgm:cxn modelId="{49413F43-33AC-4313-9DA9-5E7550777AF5}" type="presParOf" srcId="{B5352A53-94AB-4CC5-9DCF-7B4067B34C3E}" destId="{D8182415-10EA-4D7E-B352-A094CFA81B47}" srcOrd="2" destOrd="0" presId="urn:microsoft.com/office/officeart/2018/5/layout/IconCircleLabelList"/>
    <dgm:cxn modelId="{04C3D004-D314-4ADA-A93F-F66E92640F83}" type="presParOf" srcId="{B5352A53-94AB-4CC5-9DCF-7B4067B34C3E}" destId="{FF45210B-A21D-4C2A-A376-37BE1A55F054}" srcOrd="3" destOrd="0" presId="urn:microsoft.com/office/officeart/2018/5/layout/IconCircleLabelList"/>
    <dgm:cxn modelId="{3666D003-5B35-4FE5-9A99-FB0BB2123B52}" type="presParOf" srcId="{EDDEA1A2-1F12-42E2-9AB8-B43FCC9CA51B}" destId="{9C3940E2-4544-4A49-BED1-C3937A55CA4F}" srcOrd="3" destOrd="0" presId="urn:microsoft.com/office/officeart/2018/5/layout/IconCircleLabelList"/>
    <dgm:cxn modelId="{60E0EE3E-5FD0-4E9D-84B2-88F8C661994E}" type="presParOf" srcId="{EDDEA1A2-1F12-42E2-9AB8-B43FCC9CA51B}" destId="{1F2BCAF1-C398-411D-B89B-639F5D493AB3}" srcOrd="4" destOrd="0" presId="urn:microsoft.com/office/officeart/2018/5/layout/IconCircleLabelList"/>
    <dgm:cxn modelId="{8B87A6F2-584A-48B8-A134-62E488A754D9}" type="presParOf" srcId="{1F2BCAF1-C398-411D-B89B-639F5D493AB3}" destId="{66B84ACB-08E1-4B52-99F9-30527D7CF1AD}" srcOrd="0" destOrd="0" presId="urn:microsoft.com/office/officeart/2018/5/layout/IconCircleLabelList"/>
    <dgm:cxn modelId="{55D35CFC-C9BB-40D3-98F3-BD01A0B1990E}" type="presParOf" srcId="{1F2BCAF1-C398-411D-B89B-639F5D493AB3}" destId="{2D6FE71E-DBB1-47C4-A0E0-F725A3DD66DC}" srcOrd="1" destOrd="0" presId="urn:microsoft.com/office/officeart/2018/5/layout/IconCircleLabelList"/>
    <dgm:cxn modelId="{DA9A6302-057F-4078-88EE-A66A870C36F7}" type="presParOf" srcId="{1F2BCAF1-C398-411D-B89B-639F5D493AB3}" destId="{D8BB2D7C-8A70-4A44-8995-72074EB20361}" srcOrd="2" destOrd="0" presId="urn:microsoft.com/office/officeart/2018/5/layout/IconCircleLabelList"/>
    <dgm:cxn modelId="{7FA37D0A-12D6-4EA4-A196-B182BF7A4BB6}" type="presParOf" srcId="{1F2BCAF1-C398-411D-B89B-639F5D493AB3}" destId="{5452F784-5D59-44F6-8949-8354A1D3F474}" srcOrd="3" destOrd="0" presId="urn:microsoft.com/office/officeart/2018/5/layout/IconCircleLabelList"/>
    <dgm:cxn modelId="{4F4BA4C5-8808-4ADA-8330-4326E57BD0DC}" type="presParOf" srcId="{EDDEA1A2-1F12-42E2-9AB8-B43FCC9CA51B}" destId="{E451F447-8836-4731-8FE4-3E7DFF36728A}" srcOrd="5" destOrd="0" presId="urn:microsoft.com/office/officeart/2018/5/layout/IconCircleLabelList"/>
    <dgm:cxn modelId="{3DAD2123-CF1A-4A0E-ADEB-A7E53A41F99A}" type="presParOf" srcId="{EDDEA1A2-1F12-42E2-9AB8-B43FCC9CA51B}" destId="{D0963547-2FCE-42C7-9D26-C31034931DE1}" srcOrd="6" destOrd="0" presId="urn:microsoft.com/office/officeart/2018/5/layout/IconCircleLabelList"/>
    <dgm:cxn modelId="{5B85DFB2-ECB6-4CBF-98E1-751F84A18169}" type="presParOf" srcId="{D0963547-2FCE-42C7-9D26-C31034931DE1}" destId="{A3E9D01D-2D60-4313-8000-CD427CB9B1C5}" srcOrd="0" destOrd="0" presId="urn:microsoft.com/office/officeart/2018/5/layout/IconCircleLabelList"/>
    <dgm:cxn modelId="{B17148A1-B230-4313-BF94-F8A5F6B40D1D}" type="presParOf" srcId="{D0963547-2FCE-42C7-9D26-C31034931DE1}" destId="{D63460F3-8A62-4E8E-9002-DE1F2091F150}" srcOrd="1" destOrd="0" presId="urn:microsoft.com/office/officeart/2018/5/layout/IconCircleLabelList"/>
    <dgm:cxn modelId="{FEAA2139-30D3-4FD7-883B-16B96AD8A4CD}" type="presParOf" srcId="{D0963547-2FCE-42C7-9D26-C31034931DE1}" destId="{661F63A9-E00B-44EA-A1E4-5832762873FD}" srcOrd="2" destOrd="0" presId="urn:microsoft.com/office/officeart/2018/5/layout/IconCircleLabelList"/>
    <dgm:cxn modelId="{F98178BE-7077-4238-8C9A-ED88110700C4}" type="presParOf" srcId="{D0963547-2FCE-42C7-9D26-C31034931DE1}" destId="{A626AB59-6403-4989-8F7B-33EE1640154A}" srcOrd="3" destOrd="0" presId="urn:microsoft.com/office/officeart/2018/5/layout/IconCircleLabelList"/>
    <dgm:cxn modelId="{9AEBC3A9-6978-47CF-BC7A-0A2C35664FBC}" type="presParOf" srcId="{EDDEA1A2-1F12-42E2-9AB8-B43FCC9CA51B}" destId="{0D49D8D6-291D-406A-9D37-06206186CD24}" srcOrd="7" destOrd="0" presId="urn:microsoft.com/office/officeart/2018/5/layout/IconCircleLabelList"/>
    <dgm:cxn modelId="{17530F8F-3787-4957-8244-8CD7A4CF9101}" type="presParOf" srcId="{EDDEA1A2-1F12-42E2-9AB8-B43FCC9CA51B}" destId="{95FE0DF0-6F99-49A0-B8BE-5A7961193E4B}" srcOrd="8" destOrd="0" presId="urn:microsoft.com/office/officeart/2018/5/layout/IconCircleLabelList"/>
    <dgm:cxn modelId="{D4E975C7-86B2-49C6-AB7B-A6FBDE11B76E}" type="presParOf" srcId="{95FE0DF0-6F99-49A0-B8BE-5A7961193E4B}" destId="{5462D7C7-7F42-4E81-A745-1D680E2196B1}" srcOrd="0" destOrd="0" presId="urn:microsoft.com/office/officeart/2018/5/layout/IconCircleLabelList"/>
    <dgm:cxn modelId="{D11D01A1-58E2-416C-8C7D-D020AC555EBC}" type="presParOf" srcId="{95FE0DF0-6F99-49A0-B8BE-5A7961193E4B}" destId="{EC0A2368-6C5A-464D-9AE3-7E7E912D864F}" srcOrd="1" destOrd="0" presId="urn:microsoft.com/office/officeart/2018/5/layout/IconCircleLabelList"/>
    <dgm:cxn modelId="{547C5060-76B2-44D2-8899-B13815642660}" type="presParOf" srcId="{95FE0DF0-6F99-49A0-B8BE-5A7961193E4B}" destId="{BA04B33C-3A0D-4157-A028-90BEEF5D7C89}" srcOrd="2" destOrd="0" presId="urn:microsoft.com/office/officeart/2018/5/layout/IconCircleLabelList"/>
    <dgm:cxn modelId="{ED9E22B8-FEF9-4DCA-9525-071B71ED22AE}" type="presParOf" srcId="{95FE0DF0-6F99-49A0-B8BE-5A7961193E4B}" destId="{A73B7387-F2D5-4BEF-90D8-0E73413C3322}" srcOrd="3" destOrd="0" presId="urn:microsoft.com/office/officeart/2018/5/layout/IconCircleLabelList"/>
    <dgm:cxn modelId="{3704CAE5-2C0D-430B-BEBE-8BBCDC448C87}" type="presParOf" srcId="{EDDEA1A2-1F12-42E2-9AB8-B43FCC9CA51B}" destId="{BC640414-C833-4472-8DD9-858B390606CC}" srcOrd="9" destOrd="0" presId="urn:microsoft.com/office/officeart/2018/5/layout/IconCircleLabelList"/>
    <dgm:cxn modelId="{AB47ED2D-4F2E-4141-BE49-3928436AF54C}" type="presParOf" srcId="{EDDEA1A2-1F12-42E2-9AB8-B43FCC9CA51B}" destId="{0E7C683C-7453-4844-AD11-FD8D9FCB92FC}" srcOrd="10" destOrd="0" presId="urn:microsoft.com/office/officeart/2018/5/layout/IconCircleLabelList"/>
    <dgm:cxn modelId="{2581A3C8-AD97-402D-A637-71C065190AA1}" type="presParOf" srcId="{0E7C683C-7453-4844-AD11-FD8D9FCB92FC}" destId="{E2045208-21BD-44CE-AA09-28D49B6EEDE4}" srcOrd="0" destOrd="0" presId="urn:microsoft.com/office/officeart/2018/5/layout/IconCircleLabelList"/>
    <dgm:cxn modelId="{49AECA18-9C4A-4750-BA48-333BF16FC572}" type="presParOf" srcId="{0E7C683C-7453-4844-AD11-FD8D9FCB92FC}" destId="{E049C042-F3C3-4A01-8F23-9CBA4079D145}" srcOrd="1" destOrd="0" presId="urn:microsoft.com/office/officeart/2018/5/layout/IconCircleLabelList"/>
    <dgm:cxn modelId="{E2DC9842-2DD3-43C8-99D1-9B7F8873937D}" type="presParOf" srcId="{0E7C683C-7453-4844-AD11-FD8D9FCB92FC}" destId="{8E0788E4-5FEF-4DDA-AF2B-10CCAA7FF58A}" srcOrd="2" destOrd="0" presId="urn:microsoft.com/office/officeart/2018/5/layout/IconCircleLabelList"/>
    <dgm:cxn modelId="{8C687CD4-8404-4330-BE77-D439A29309D7}" type="presParOf" srcId="{0E7C683C-7453-4844-AD11-FD8D9FCB92FC}" destId="{2853ADD1-5E38-4F8C-9EC0-ADE6D32AFDC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AB13C-4E2C-4F28-9094-9B9F173F0702}">
      <dsp:nvSpPr>
        <dsp:cNvPr id="0" name=""/>
        <dsp:cNvSpPr/>
      </dsp:nvSpPr>
      <dsp:spPr>
        <a:xfrm>
          <a:off x="0" y="617"/>
          <a:ext cx="7924800" cy="144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33317-3B24-4ED7-B7F8-B18E0F451AFD}">
      <dsp:nvSpPr>
        <dsp:cNvPr id="0" name=""/>
        <dsp:cNvSpPr/>
      </dsp:nvSpPr>
      <dsp:spPr>
        <a:xfrm>
          <a:off x="437166" y="325782"/>
          <a:ext cx="794848" cy="7948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85189-9E9B-40B6-8DA3-93A3E422F121}">
      <dsp:nvSpPr>
        <dsp:cNvPr id="0" name=""/>
        <dsp:cNvSpPr/>
      </dsp:nvSpPr>
      <dsp:spPr>
        <a:xfrm>
          <a:off x="1669181" y="617"/>
          <a:ext cx="6255618" cy="144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948" tIns="152948" rIns="152948" bIns="152948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DO indicate data incompatible with model</a:t>
          </a:r>
          <a:endParaRPr lang="en-US" sz="3200" kern="1200" dirty="0"/>
        </a:p>
      </dsp:txBody>
      <dsp:txXfrm>
        <a:off x="1669181" y="617"/>
        <a:ext cx="6255618" cy="1445179"/>
      </dsp:txXfrm>
    </dsp:sp>
    <dsp:sp modelId="{5FBAFF7C-DEE8-4ED7-80DD-B8A48AB9CE8B}">
      <dsp:nvSpPr>
        <dsp:cNvPr id="0" name=""/>
        <dsp:cNvSpPr/>
      </dsp:nvSpPr>
      <dsp:spPr>
        <a:xfrm>
          <a:off x="0" y="1807091"/>
          <a:ext cx="7924800" cy="144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61C60-44D0-4247-8CEB-DEE5F963CF51}">
      <dsp:nvSpPr>
        <dsp:cNvPr id="0" name=""/>
        <dsp:cNvSpPr/>
      </dsp:nvSpPr>
      <dsp:spPr>
        <a:xfrm>
          <a:off x="437166" y="2132256"/>
          <a:ext cx="794848" cy="7948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BC3F1-3B4D-4858-9084-8FDDCF8EC156}">
      <dsp:nvSpPr>
        <dsp:cNvPr id="0" name=""/>
        <dsp:cNvSpPr/>
      </dsp:nvSpPr>
      <dsp:spPr>
        <a:xfrm>
          <a:off x="1669181" y="1807091"/>
          <a:ext cx="6255618" cy="144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948" tIns="152948" rIns="152948" bIns="152948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DO NOT measure probability hypothesis is true</a:t>
          </a:r>
          <a:endParaRPr lang="en-US" sz="3200" kern="1200" dirty="0"/>
        </a:p>
      </dsp:txBody>
      <dsp:txXfrm>
        <a:off x="1669181" y="1807091"/>
        <a:ext cx="6255618" cy="1445179"/>
      </dsp:txXfrm>
    </dsp:sp>
    <dsp:sp modelId="{26BC687D-B3A0-4C17-9596-F33A857D673B}">
      <dsp:nvSpPr>
        <dsp:cNvPr id="0" name=""/>
        <dsp:cNvSpPr/>
      </dsp:nvSpPr>
      <dsp:spPr>
        <a:xfrm>
          <a:off x="0" y="3613565"/>
          <a:ext cx="7924800" cy="144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1E150-FBE6-42F7-8078-494F55A3E84F}">
      <dsp:nvSpPr>
        <dsp:cNvPr id="0" name=""/>
        <dsp:cNvSpPr/>
      </dsp:nvSpPr>
      <dsp:spPr>
        <a:xfrm>
          <a:off x="437166" y="3938730"/>
          <a:ext cx="794848" cy="7948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90111-ED17-4092-9E70-7D21F38B266F}">
      <dsp:nvSpPr>
        <dsp:cNvPr id="0" name=""/>
        <dsp:cNvSpPr/>
      </dsp:nvSpPr>
      <dsp:spPr>
        <a:xfrm>
          <a:off x="1669181" y="3613565"/>
          <a:ext cx="6255618" cy="144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948" tIns="152948" rIns="152948" bIns="152948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Should NOT be used as basis for policy decisions</a:t>
          </a:r>
          <a:endParaRPr lang="en-US" sz="3200" kern="1200"/>
        </a:p>
      </dsp:txBody>
      <dsp:txXfrm>
        <a:off x="1669181" y="3613565"/>
        <a:ext cx="6255618" cy="14451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70940-5707-4FBE-B128-B8B39F864471}">
      <dsp:nvSpPr>
        <dsp:cNvPr id="0" name=""/>
        <dsp:cNvSpPr/>
      </dsp:nvSpPr>
      <dsp:spPr>
        <a:xfrm>
          <a:off x="0" y="625"/>
          <a:ext cx="8001000" cy="14630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EEA10-2212-4D79-9768-4F783E7E1275}">
      <dsp:nvSpPr>
        <dsp:cNvPr id="0" name=""/>
        <dsp:cNvSpPr/>
      </dsp:nvSpPr>
      <dsp:spPr>
        <a:xfrm>
          <a:off x="442567" y="329807"/>
          <a:ext cx="804668" cy="8046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A5020-3946-44BC-8226-E632E33F3549}">
      <dsp:nvSpPr>
        <dsp:cNvPr id="0" name=""/>
        <dsp:cNvSpPr/>
      </dsp:nvSpPr>
      <dsp:spPr>
        <a:xfrm>
          <a:off x="1689804" y="625"/>
          <a:ext cx="6311195" cy="14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8" tIns="154838" rIns="154838" bIns="154838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Require full reporting and transparency (for proper inference)</a:t>
          </a:r>
        </a:p>
      </dsp:txBody>
      <dsp:txXfrm>
        <a:off x="1689804" y="625"/>
        <a:ext cx="6311195" cy="1463034"/>
      </dsp:txXfrm>
    </dsp:sp>
    <dsp:sp modelId="{A5BB28E1-BEEE-44B2-8349-909D6F8D1404}">
      <dsp:nvSpPr>
        <dsp:cNvPr id="0" name=""/>
        <dsp:cNvSpPr/>
      </dsp:nvSpPr>
      <dsp:spPr>
        <a:xfrm>
          <a:off x="0" y="1829417"/>
          <a:ext cx="8001000" cy="14630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AB361-DC54-4FF8-8BCE-574E689A9FAC}">
      <dsp:nvSpPr>
        <dsp:cNvPr id="0" name=""/>
        <dsp:cNvSpPr/>
      </dsp:nvSpPr>
      <dsp:spPr>
        <a:xfrm>
          <a:off x="442567" y="2158600"/>
          <a:ext cx="804668" cy="8046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64B34-1709-4D98-8224-30FD713E2144}">
      <dsp:nvSpPr>
        <dsp:cNvPr id="0" name=""/>
        <dsp:cNvSpPr/>
      </dsp:nvSpPr>
      <dsp:spPr>
        <a:xfrm>
          <a:off x="1689804" y="1829417"/>
          <a:ext cx="6311195" cy="14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8" tIns="154838" rIns="154838" bIns="154838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Is NOT an effect size, nor indication of importance</a:t>
          </a:r>
        </a:p>
      </dsp:txBody>
      <dsp:txXfrm>
        <a:off x="1689804" y="1829417"/>
        <a:ext cx="6311195" cy="1463034"/>
      </dsp:txXfrm>
    </dsp:sp>
    <dsp:sp modelId="{A7ED27B7-61F9-401C-B0F1-2BF33F65C279}">
      <dsp:nvSpPr>
        <dsp:cNvPr id="0" name=""/>
        <dsp:cNvSpPr/>
      </dsp:nvSpPr>
      <dsp:spPr>
        <a:xfrm>
          <a:off x="0" y="3658210"/>
          <a:ext cx="8001000" cy="14630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92E06-3562-4209-8A9F-6E3DEC2731C5}">
      <dsp:nvSpPr>
        <dsp:cNvPr id="0" name=""/>
        <dsp:cNvSpPr/>
      </dsp:nvSpPr>
      <dsp:spPr>
        <a:xfrm>
          <a:off x="442567" y="3987393"/>
          <a:ext cx="804668" cy="8046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6997D-0770-49BD-ADF1-0CCA996885B6}">
      <dsp:nvSpPr>
        <dsp:cNvPr id="0" name=""/>
        <dsp:cNvSpPr/>
      </dsp:nvSpPr>
      <dsp:spPr>
        <a:xfrm>
          <a:off x="1689804" y="3658210"/>
          <a:ext cx="6311195" cy="146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8" tIns="154838" rIns="154838" bIns="154838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Is NOT a measure of evidence</a:t>
          </a:r>
        </a:p>
      </dsp:txBody>
      <dsp:txXfrm>
        <a:off x="1689804" y="3658210"/>
        <a:ext cx="6311195" cy="1463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2B837-C66E-4398-9A59-3E221ACC2BCA}">
      <dsp:nvSpPr>
        <dsp:cNvPr id="0" name=""/>
        <dsp:cNvSpPr/>
      </dsp:nvSpPr>
      <dsp:spPr>
        <a:xfrm>
          <a:off x="1193736" y="128425"/>
          <a:ext cx="1222257" cy="122225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5D4C7-4B42-4347-888D-852284DA9F33}">
      <dsp:nvSpPr>
        <dsp:cNvPr id="0" name=""/>
        <dsp:cNvSpPr/>
      </dsp:nvSpPr>
      <dsp:spPr>
        <a:xfrm>
          <a:off x="1454217" y="388906"/>
          <a:ext cx="701295" cy="7012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7496E-08CB-42BA-8F0E-2F8588525749}">
      <dsp:nvSpPr>
        <dsp:cNvPr id="0" name=""/>
        <dsp:cNvSpPr/>
      </dsp:nvSpPr>
      <dsp:spPr>
        <a:xfrm>
          <a:off x="803015" y="1731386"/>
          <a:ext cx="20037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Effect sizes</a:t>
          </a:r>
        </a:p>
      </dsp:txBody>
      <dsp:txXfrm>
        <a:off x="803015" y="1731386"/>
        <a:ext cx="2003700" cy="1012500"/>
      </dsp:txXfrm>
    </dsp:sp>
    <dsp:sp modelId="{6D38F707-60EC-44F5-A1ED-F23C904FFAB8}">
      <dsp:nvSpPr>
        <dsp:cNvPr id="0" name=""/>
        <dsp:cNvSpPr/>
      </dsp:nvSpPr>
      <dsp:spPr>
        <a:xfrm>
          <a:off x="3548085" y="128425"/>
          <a:ext cx="1222257" cy="122225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3DAA0-41F7-4F3B-9B80-BF1651BB00B2}">
      <dsp:nvSpPr>
        <dsp:cNvPr id="0" name=""/>
        <dsp:cNvSpPr/>
      </dsp:nvSpPr>
      <dsp:spPr>
        <a:xfrm>
          <a:off x="3808566" y="388906"/>
          <a:ext cx="701295" cy="7012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5210B-A21D-4C2A-A376-37BE1A55F054}">
      <dsp:nvSpPr>
        <dsp:cNvPr id="0" name=""/>
        <dsp:cNvSpPr/>
      </dsp:nvSpPr>
      <dsp:spPr>
        <a:xfrm>
          <a:off x="3157363" y="1731386"/>
          <a:ext cx="20037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Confidence intervals</a:t>
          </a:r>
        </a:p>
      </dsp:txBody>
      <dsp:txXfrm>
        <a:off x="3157363" y="1731386"/>
        <a:ext cx="2003700" cy="1012500"/>
      </dsp:txXfrm>
    </dsp:sp>
    <dsp:sp modelId="{66B84ACB-08E1-4B52-99F9-30527D7CF1AD}">
      <dsp:nvSpPr>
        <dsp:cNvPr id="0" name=""/>
        <dsp:cNvSpPr/>
      </dsp:nvSpPr>
      <dsp:spPr>
        <a:xfrm>
          <a:off x="5902433" y="128425"/>
          <a:ext cx="1222257" cy="122225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FE71E-DBB1-47C4-A0E0-F725A3DD66DC}">
      <dsp:nvSpPr>
        <dsp:cNvPr id="0" name=""/>
        <dsp:cNvSpPr/>
      </dsp:nvSpPr>
      <dsp:spPr>
        <a:xfrm>
          <a:off x="6162914" y="388906"/>
          <a:ext cx="701295" cy="7012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2F784-5D59-44F6-8949-8354A1D3F474}">
      <dsp:nvSpPr>
        <dsp:cNvPr id="0" name=""/>
        <dsp:cNvSpPr/>
      </dsp:nvSpPr>
      <dsp:spPr>
        <a:xfrm>
          <a:off x="5511712" y="1731386"/>
          <a:ext cx="20037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Prediction intervals</a:t>
          </a:r>
        </a:p>
      </dsp:txBody>
      <dsp:txXfrm>
        <a:off x="5511712" y="1731386"/>
        <a:ext cx="2003700" cy="1012500"/>
      </dsp:txXfrm>
    </dsp:sp>
    <dsp:sp modelId="{A3E9D01D-2D60-4313-8000-CD427CB9B1C5}">
      <dsp:nvSpPr>
        <dsp:cNvPr id="0" name=""/>
        <dsp:cNvSpPr/>
      </dsp:nvSpPr>
      <dsp:spPr>
        <a:xfrm>
          <a:off x="1193736" y="3244811"/>
          <a:ext cx="1222257" cy="122225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460F3-8A62-4E8E-9002-DE1F2091F150}">
      <dsp:nvSpPr>
        <dsp:cNvPr id="0" name=""/>
        <dsp:cNvSpPr/>
      </dsp:nvSpPr>
      <dsp:spPr>
        <a:xfrm>
          <a:off x="1454217" y="3505292"/>
          <a:ext cx="701295" cy="7012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6AB59-6403-4989-8F7B-33EE1640154A}">
      <dsp:nvSpPr>
        <dsp:cNvPr id="0" name=""/>
        <dsp:cNvSpPr/>
      </dsp:nvSpPr>
      <dsp:spPr>
        <a:xfrm>
          <a:off x="803015" y="4847772"/>
          <a:ext cx="20037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Interpret against thresholds</a:t>
          </a:r>
        </a:p>
      </dsp:txBody>
      <dsp:txXfrm>
        <a:off x="803015" y="4847772"/>
        <a:ext cx="2003700" cy="1012500"/>
      </dsp:txXfrm>
    </dsp:sp>
    <dsp:sp modelId="{5462D7C7-7F42-4E81-A745-1D680E2196B1}">
      <dsp:nvSpPr>
        <dsp:cNvPr id="0" name=""/>
        <dsp:cNvSpPr/>
      </dsp:nvSpPr>
      <dsp:spPr>
        <a:xfrm>
          <a:off x="3548085" y="3244811"/>
          <a:ext cx="1222257" cy="122225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A2368-6C5A-464D-9AE3-7E7E912D864F}">
      <dsp:nvSpPr>
        <dsp:cNvPr id="0" name=""/>
        <dsp:cNvSpPr/>
      </dsp:nvSpPr>
      <dsp:spPr>
        <a:xfrm>
          <a:off x="3808566" y="3505292"/>
          <a:ext cx="701295" cy="7012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B7387-F2D5-4BEF-90D8-0E73413C3322}">
      <dsp:nvSpPr>
        <dsp:cNvPr id="0" name=""/>
        <dsp:cNvSpPr/>
      </dsp:nvSpPr>
      <dsp:spPr>
        <a:xfrm>
          <a:off x="3157363" y="4847772"/>
          <a:ext cx="20037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Clinically meaningful</a:t>
          </a:r>
        </a:p>
      </dsp:txBody>
      <dsp:txXfrm>
        <a:off x="3157363" y="4847772"/>
        <a:ext cx="2003700" cy="1012500"/>
      </dsp:txXfrm>
    </dsp:sp>
    <dsp:sp modelId="{E2045208-21BD-44CE-AA09-28D49B6EEDE4}">
      <dsp:nvSpPr>
        <dsp:cNvPr id="0" name=""/>
        <dsp:cNvSpPr/>
      </dsp:nvSpPr>
      <dsp:spPr>
        <a:xfrm>
          <a:off x="5902433" y="3244811"/>
          <a:ext cx="1222257" cy="122225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9C042-F3C3-4A01-8F23-9CBA4079D145}">
      <dsp:nvSpPr>
        <dsp:cNvPr id="0" name=""/>
        <dsp:cNvSpPr/>
      </dsp:nvSpPr>
      <dsp:spPr>
        <a:xfrm>
          <a:off x="6162914" y="3505292"/>
          <a:ext cx="701295" cy="70129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3ADD1-5E38-4F8C-9EC0-ADE6D32AFDCF}">
      <dsp:nvSpPr>
        <dsp:cNvPr id="0" name=""/>
        <dsp:cNvSpPr/>
      </dsp:nvSpPr>
      <dsp:spPr>
        <a:xfrm>
          <a:off x="5511712" y="4847772"/>
          <a:ext cx="20037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 dirty="0"/>
            <a:t>Scientific importance</a:t>
          </a:r>
        </a:p>
      </dsp:txBody>
      <dsp:txXfrm>
        <a:off x="5511712" y="4847772"/>
        <a:ext cx="2003700" cy="101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4" y="1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/>
          <a:lstStyle>
            <a:lvl1pPr algn="r">
              <a:defRPr sz="1200"/>
            </a:lvl1pPr>
          </a:lstStyle>
          <a:p>
            <a:fld id="{AAF5CF23-0D74-4E26-806F-3B6C18AAD0A3}" type="datetimeFigureOut">
              <a:rPr lang="en-US" smtClean="0"/>
              <a:t>8/30/2020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42030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4" y="8842030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 anchor="b"/>
          <a:lstStyle>
            <a:lvl1pPr algn="r">
              <a:defRPr sz="1200"/>
            </a:lvl1pPr>
          </a:lstStyle>
          <a:p>
            <a:fld id="{0989F021-C23D-442B-9C17-DFA754A561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02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4" y="1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/>
          <a:lstStyle>
            <a:lvl1pPr algn="r">
              <a:defRPr sz="1200"/>
            </a:lvl1pPr>
          </a:lstStyle>
          <a:p>
            <a:fld id="{FC9E9308-A57A-4708-8988-A5FCAEBE4B7C}" type="datetimeFigureOut">
              <a:rPr lang="en-US" smtClean="0"/>
              <a:t>8/30/2020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6913"/>
            <a:ext cx="46577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5" tIns="46657" rIns="93315" bIns="4665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1" y="4421823"/>
            <a:ext cx="5618480" cy="4189095"/>
          </a:xfrm>
          <a:prstGeom prst="rect">
            <a:avLst/>
          </a:prstGeom>
        </p:spPr>
        <p:txBody>
          <a:bodyPr vert="horz" lIns="93315" tIns="46657" rIns="93315" bIns="4665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42030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4" y="8842030"/>
            <a:ext cx="3043343" cy="465455"/>
          </a:xfrm>
          <a:prstGeom prst="rect">
            <a:avLst/>
          </a:prstGeom>
        </p:spPr>
        <p:txBody>
          <a:bodyPr vert="horz" lIns="93315" tIns="46657" rIns="93315" bIns="46657" rtlCol="0" anchor="b"/>
          <a:lstStyle>
            <a:lvl1pPr algn="r">
              <a:defRPr sz="1200"/>
            </a:lvl1pPr>
          </a:lstStyle>
          <a:p>
            <a:fld id="{AA42A1C9-E1AE-4CEB-B407-D6E5366AD0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2400" dirty="0">
              <a:latin typeface="Arial" pitchFamily="-7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  <a:latin typeface="Gill Sans M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13FD9-63FC-4D78-B332-B98100226572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76092"/>
              </a:buClr>
              <a:defRPr>
                <a:latin typeface="Gill Sans MT" pitchFamily="34" charset="0"/>
              </a:defRPr>
            </a:lvl1pPr>
            <a:lvl2pPr>
              <a:buClr>
                <a:srgbClr val="376092"/>
              </a:buClr>
              <a:defRPr>
                <a:latin typeface="Gill Sans MT" pitchFamily="34" charset="0"/>
              </a:defRPr>
            </a:lvl2pPr>
            <a:lvl3pPr>
              <a:buClr>
                <a:srgbClr val="376092"/>
              </a:buClr>
              <a:defRPr>
                <a:latin typeface="Gill Sans MT" pitchFamily="34" charset="0"/>
              </a:defRPr>
            </a:lvl3pPr>
            <a:lvl4pPr>
              <a:buClr>
                <a:srgbClr val="376092"/>
              </a:buClr>
              <a:defRPr>
                <a:latin typeface="Gill Sans MT" pitchFamily="34" charset="0"/>
              </a:defRPr>
            </a:lvl4pPr>
            <a:lvl5pPr>
              <a:buClr>
                <a:srgbClr val="376092"/>
              </a:buClr>
              <a:defRPr>
                <a:latin typeface="Gill Sans MT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8051-1E0A-43B3-82D3-3FC479E05404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>
                <a:latin typeface="Gill Sans M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D0DD-C356-4D18-BA2C-D8434CB60C4C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buClr>
                <a:srgbClr val="376092"/>
              </a:buClr>
              <a:defRPr sz="2800">
                <a:latin typeface="Gill Sans MT" pitchFamily="34" charset="0"/>
              </a:defRPr>
            </a:lvl1pPr>
            <a:lvl2pPr>
              <a:buClr>
                <a:srgbClr val="376092"/>
              </a:buClr>
              <a:defRPr sz="2400">
                <a:latin typeface="Gill Sans MT" pitchFamily="34" charset="0"/>
              </a:defRPr>
            </a:lvl2pPr>
            <a:lvl3pPr>
              <a:buClr>
                <a:srgbClr val="376092"/>
              </a:buClr>
              <a:defRPr sz="2000">
                <a:latin typeface="Gill Sans MT" pitchFamily="34" charset="0"/>
              </a:defRPr>
            </a:lvl3pPr>
            <a:lvl4pPr>
              <a:buClr>
                <a:srgbClr val="376092"/>
              </a:buClr>
              <a:defRPr sz="1800">
                <a:latin typeface="Gill Sans MT" pitchFamily="34" charset="0"/>
              </a:defRPr>
            </a:lvl4pPr>
            <a:lvl5pPr>
              <a:buClr>
                <a:srgbClr val="376092"/>
              </a:buClr>
              <a:defRPr sz="1800">
                <a:latin typeface="Gill Sans MT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buClr>
                <a:srgbClr val="376092"/>
              </a:buClr>
              <a:defRPr sz="2800">
                <a:latin typeface="Gill Sans MT" pitchFamily="34" charset="0"/>
              </a:defRPr>
            </a:lvl1pPr>
            <a:lvl2pPr>
              <a:buClr>
                <a:srgbClr val="376092"/>
              </a:buClr>
              <a:defRPr sz="2400">
                <a:latin typeface="Gill Sans MT" pitchFamily="34" charset="0"/>
              </a:defRPr>
            </a:lvl2pPr>
            <a:lvl3pPr>
              <a:buClr>
                <a:srgbClr val="376092"/>
              </a:buClr>
              <a:defRPr sz="2000">
                <a:latin typeface="Gill Sans MT" pitchFamily="34" charset="0"/>
              </a:defRPr>
            </a:lvl3pPr>
            <a:lvl4pPr>
              <a:buClr>
                <a:srgbClr val="376092"/>
              </a:buClr>
              <a:defRPr sz="1800">
                <a:latin typeface="Gill Sans MT" pitchFamily="34" charset="0"/>
              </a:defRPr>
            </a:lvl4pPr>
            <a:lvl5pPr>
              <a:buClr>
                <a:srgbClr val="376092"/>
              </a:buClr>
              <a:defRPr sz="1800">
                <a:latin typeface="Gill Sans MT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0B23-ACF6-4912-B027-9C4D6930836D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solidFill>
                  <a:schemeClr val="tx2"/>
                </a:solidFill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buClr>
                <a:srgbClr val="376092"/>
              </a:buClr>
              <a:defRPr sz="2400">
                <a:latin typeface="Gill Sans MT" pitchFamily="34" charset="0"/>
              </a:defRPr>
            </a:lvl1pPr>
            <a:lvl2pPr>
              <a:buClr>
                <a:srgbClr val="376092"/>
              </a:buClr>
              <a:defRPr sz="2000">
                <a:latin typeface="Gill Sans MT" pitchFamily="34" charset="0"/>
              </a:defRPr>
            </a:lvl2pPr>
            <a:lvl3pPr>
              <a:buClr>
                <a:srgbClr val="376092"/>
              </a:buClr>
              <a:defRPr sz="1800">
                <a:latin typeface="Gill Sans MT" pitchFamily="34" charset="0"/>
              </a:defRPr>
            </a:lvl3pPr>
            <a:lvl4pPr>
              <a:buClr>
                <a:srgbClr val="376092"/>
              </a:buClr>
              <a:defRPr sz="1600">
                <a:latin typeface="Gill Sans MT" pitchFamily="34" charset="0"/>
              </a:defRPr>
            </a:lvl4pPr>
            <a:lvl5pPr>
              <a:buClr>
                <a:srgbClr val="376092"/>
              </a:buCl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solidFill>
                  <a:schemeClr val="tx2"/>
                </a:solidFill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buClr>
                <a:srgbClr val="376092"/>
              </a:buClr>
              <a:defRPr sz="2400">
                <a:latin typeface="Gill Sans MT" pitchFamily="34" charset="0"/>
              </a:defRPr>
            </a:lvl1pPr>
            <a:lvl2pPr>
              <a:buClr>
                <a:srgbClr val="376092"/>
              </a:buClr>
              <a:defRPr sz="2000">
                <a:latin typeface="Gill Sans MT" pitchFamily="34" charset="0"/>
              </a:defRPr>
            </a:lvl2pPr>
            <a:lvl3pPr>
              <a:buClr>
                <a:srgbClr val="376092"/>
              </a:buClr>
              <a:defRPr sz="1800">
                <a:latin typeface="Gill Sans MT" pitchFamily="34" charset="0"/>
              </a:defRPr>
            </a:lvl3pPr>
            <a:lvl4pPr>
              <a:buClr>
                <a:srgbClr val="376092"/>
              </a:buClr>
              <a:defRPr sz="1600">
                <a:latin typeface="Gill Sans MT" pitchFamily="34" charset="0"/>
              </a:defRPr>
            </a:lvl4pPr>
            <a:lvl5pPr>
              <a:buClr>
                <a:srgbClr val="376092"/>
              </a:buCl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6392-BF41-4211-B082-1C9562EC3C0C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B0ED-A995-49C5-92BB-8BCCE954BF45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3B31-19A1-4B2C-BF44-8DA1818043C0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34B-3C78-44CE-9F6D-14C9BE6ACBBF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9EBB-A393-4763-9652-288089443CB9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251C-C191-4EB3-B6CA-B968C8564BEC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0F10-F0E9-4E99-820D-6DF0E49A8A42}" type="datetime1">
              <a:rPr lang="en-US" smtClean="0"/>
              <a:t>8/30/2020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2"/>
            <a:ext cx="9144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95400"/>
            <a:ext cx="2094869" cy="160020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60" y="1447800"/>
            <a:ext cx="3892549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895601"/>
            <a:ext cx="2094869" cy="312927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E210A-C56E-40C9-BE7E-A3E95F44B1B3}" type="datetimeFigureOut">
              <a:rPr lang="en-US" smtClean="0"/>
              <a:t>8/30/2020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21AB-CDF1-4A78-8077-4B310D606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7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1D7C8D0-3853-4904-A782-3CCA19F2188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3A41D32-E16E-4D3E-B06B-6C02E74D3102}" type="datetime1">
              <a:rPr lang="en-US" smtClean="0"/>
              <a:t>8/30/2020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Gill Sans MT" pitchFamily="34" charset="0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rgbClr val="376092"/>
        </a:buClr>
        <a:buFont typeface="Arial" pitchFamily="34" charset="0"/>
        <a:buChar char="•"/>
        <a:defRPr sz="22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rgbClr val="376092"/>
        </a:buClr>
        <a:buFont typeface="Arial" pitchFamily="34" charset="0"/>
        <a:buChar char="•"/>
        <a:defRPr sz="20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rgbClr val="376092"/>
        </a:buClr>
        <a:buFont typeface="Arial" pitchFamily="34" charset="0"/>
        <a:buChar char="•"/>
        <a:defRPr sz="18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rgbClr val="376092"/>
        </a:buClr>
        <a:buFont typeface="Arial" pitchFamily="34" charset="0"/>
        <a:buChar char="•"/>
        <a:defRPr sz="16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rgbClr val="376092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Gill Sans MT" pitchFamily="34" charset="0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1478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882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tandfonline.com/toc/utas20/73/sup1?nav=tocList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hometrica.de/effect_size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ubtitle 2"/>
          <p:cNvSpPr txBox="1">
            <a:spLocks/>
          </p:cNvSpPr>
          <p:nvPr/>
        </p:nvSpPr>
        <p:spPr bwMode="auto">
          <a:xfrm>
            <a:off x="228600" y="228600"/>
            <a:ext cx="7924800" cy="3619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Font typeface="Arial" pitchFamily="-72" charset="0"/>
              <a:buNone/>
            </a:pPr>
            <a:endParaRPr lang="en-US" sz="3200" dirty="0">
              <a:latin typeface="Calibri" pitchFamily="-7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551" y="1061745"/>
            <a:ext cx="8479192" cy="990600"/>
          </a:xfrm>
        </p:spPr>
        <p:txBody>
          <a:bodyPr/>
          <a:lstStyle/>
          <a:p>
            <a:pPr algn="ctr"/>
            <a:r>
              <a:rPr lang="en-US" sz="5500" dirty="0"/>
              <a:t>Moving nursing beyond p&lt;.05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-1" y="6172200"/>
            <a:ext cx="843059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March 20, 2020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761" y="3371848"/>
            <a:ext cx="3692478" cy="16383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180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740"/>
            <a:ext cx="7620000" cy="457200"/>
          </a:xfrm>
        </p:spPr>
        <p:txBody>
          <a:bodyPr/>
          <a:lstStyle/>
          <a:p>
            <a:r>
              <a:rPr lang="en-US" b="1" dirty="0"/>
              <a:t>Presenters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71320"/>
            <a:ext cx="9144000" cy="6096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e-DE" sz="1800" b="1" dirty="0">
                <a:solidFill>
                  <a:srgbClr val="C00000"/>
                </a:solidFill>
              </a:rPr>
              <a:t>Matthew Hayat, PhD</a:t>
            </a:r>
            <a:br>
              <a:rPr lang="de-DE" sz="1800" dirty="0"/>
            </a:br>
            <a:r>
              <a:rPr lang="de-DE" sz="1800" dirty="0"/>
              <a:t>Professor of Biostatistics</a:t>
            </a:r>
            <a:br>
              <a:rPr lang="de-DE" sz="1800" dirty="0"/>
            </a:br>
            <a:r>
              <a:rPr lang="de-DE" sz="1800" dirty="0"/>
              <a:t>School of Public Health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Byrdine</a:t>
            </a:r>
            <a:r>
              <a:rPr lang="en-US" sz="1800" dirty="0"/>
              <a:t> F. Lewis College of Nursing and Health Professions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/>
              <a:t>Georgia State University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/>
              <a:t> 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de-DE" sz="1800" b="1" dirty="0">
                <a:solidFill>
                  <a:srgbClr val="C00000"/>
                </a:solidFill>
              </a:rPr>
              <a:t>Martina Mueller, PhD</a:t>
            </a:r>
            <a:br>
              <a:rPr lang="de-DE" sz="1800" dirty="0">
                <a:solidFill>
                  <a:srgbClr val="C00000"/>
                </a:solidFill>
              </a:rPr>
            </a:br>
            <a:r>
              <a:rPr lang="en-US" sz="1800" dirty="0"/>
              <a:t>Professor of Biostatistics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College of Nursing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Department of Public Health Sciences (Joint)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Medical University of South Carolina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/>
              <a:t>  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de-DE" sz="1800" b="1" dirty="0">
                <a:solidFill>
                  <a:srgbClr val="C00000"/>
                </a:solidFill>
              </a:rPr>
              <a:t>Melinda Higgins, PhD</a:t>
            </a:r>
            <a:br>
              <a:rPr lang="de-DE" sz="1800" dirty="0">
                <a:solidFill>
                  <a:srgbClr val="C00000"/>
                </a:solidFill>
              </a:rPr>
            </a:br>
            <a:r>
              <a:rPr lang="en-US" sz="1800" dirty="0"/>
              <a:t>Research Professor of Biostatistics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School of Nursing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Emory University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/>
              <a:t>  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de-DE" sz="1800" b="1" dirty="0">
                <a:solidFill>
                  <a:srgbClr val="C00000"/>
                </a:solidFill>
              </a:rPr>
              <a:t>Michael Weaver, RN, PhD, FAAN</a:t>
            </a:r>
            <a:br>
              <a:rPr lang="de-DE" sz="1800" dirty="0"/>
            </a:br>
            <a:r>
              <a:rPr lang="en-US" sz="1800" dirty="0"/>
              <a:t>Professor of Biostatistics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Associate Dean for Research and Scholarship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College of Nursing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University of Florida</a:t>
            </a:r>
          </a:p>
          <a:p>
            <a:pPr marL="0" indent="0" algn="ctr">
              <a:spcBef>
                <a:spcPts val="0"/>
              </a:spcBef>
              <a:buNone/>
            </a:pPr>
            <a:endParaRPr lang="de-DE" sz="1800" dirty="0"/>
          </a:p>
          <a:p>
            <a:pPr marL="0" indent="0" algn="ctr">
              <a:spcBef>
                <a:spcPts val="0"/>
              </a:spcBef>
              <a:buNone/>
            </a:pPr>
            <a:endParaRPr lang="de-DE" sz="1800" dirty="0"/>
          </a:p>
          <a:p>
            <a:pPr marL="0" indent="0" algn="ctr">
              <a:spcBef>
                <a:spcPts val="0"/>
              </a:spcBef>
              <a:buNone/>
            </a:pPr>
            <a:endParaRPr lang="de-DE" sz="1800" dirty="0"/>
          </a:p>
          <a:p>
            <a:pPr marL="0" indent="0" algn="ctr">
              <a:spcBef>
                <a:spcPts val="0"/>
              </a:spcBef>
              <a:buNone/>
            </a:pPr>
            <a:endParaRPr lang="de-DE" sz="1800" dirty="0"/>
          </a:p>
          <a:p>
            <a:pPr marL="0" indent="0" algn="ctr">
              <a:spcBef>
                <a:spcPts val="0"/>
              </a:spcBef>
              <a:buNone/>
            </a:pPr>
            <a:endParaRPr lang="de-DE" sz="1800" dirty="0"/>
          </a:p>
          <a:p>
            <a:pPr marL="0" indent="0" algn="ctr">
              <a:spcBef>
                <a:spcPts val="0"/>
              </a:spcBef>
              <a:buNone/>
            </a:pPr>
            <a:endParaRPr lang="de-DE" sz="1800" dirty="0"/>
          </a:p>
          <a:p>
            <a:pPr marL="0" indent="0" algn="ctr">
              <a:spcBef>
                <a:spcPts val="0"/>
              </a:spcBef>
              <a:buNone/>
            </a:pPr>
            <a:endParaRPr lang="en-US" sz="1800" dirty="0"/>
          </a:p>
        </p:txBody>
      </p:sp>
      <p:pic>
        <p:nvPicPr>
          <p:cNvPr id="4" name="Picture 2" descr="http://publichealth.gsu.edu/files/2014/08/Matt_Hayat-300x3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914400"/>
            <a:ext cx="1143000" cy="12437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2</a:t>
            </a:fld>
            <a:endParaRPr lang="en-US" dirty="0"/>
          </a:p>
        </p:txBody>
      </p:sp>
      <p:pic>
        <p:nvPicPr>
          <p:cNvPr id="1026" name="Picture 2" descr="Provid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498" y="2374048"/>
            <a:ext cx="1097902" cy="153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elinda higgi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949" y="4108059"/>
            <a:ext cx="1174102" cy="117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hael Weav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382" y="5372841"/>
            <a:ext cx="929653" cy="139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oley headshot">
            <a:extLst>
              <a:ext uri="{FF2B5EF4-FFF2-40B4-BE49-F238E27FC236}">
                <a16:creationId xmlns:a16="http://schemas.microsoft.com/office/drawing/2014/main" id="{AEB48031-117D-423F-9627-EDF50B8E2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478300"/>
            <a:ext cx="842962" cy="118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C824BA-7E4B-4212-8932-0398779AE825}"/>
              </a:ext>
            </a:extLst>
          </p:cNvPr>
          <p:cNvSpPr txBox="1"/>
          <p:nvPr/>
        </p:nvSpPr>
        <p:spPr>
          <a:xfrm>
            <a:off x="5791201" y="2620483"/>
            <a:ext cx="16001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rgbClr val="C00000"/>
                </a:solidFill>
              </a:rPr>
              <a:t>Mary Dooley, MS</a:t>
            </a:r>
            <a:br>
              <a:rPr lang="de-DE" sz="1400" dirty="0">
                <a:solidFill>
                  <a:srgbClr val="C00000"/>
                </a:solidFill>
              </a:rPr>
            </a:br>
            <a:r>
              <a:rPr lang="en-US" sz="1400" dirty="0"/>
              <a:t>Research Associate</a:t>
            </a:r>
          </a:p>
          <a:p>
            <a:r>
              <a:rPr lang="en-US" sz="1400" dirty="0"/>
              <a:t>College of Nursing</a:t>
            </a:r>
          </a:p>
          <a:p>
            <a:r>
              <a:rPr lang="en-US" sz="1400" dirty="0"/>
              <a:t>Medical University of South Carolina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3747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7886700" cy="1219199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+mn-lt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763000" cy="5334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ClrTx/>
              <a:buFont typeface="+mj-lt"/>
              <a:buAutoNum type="romanUcPeriod"/>
            </a:pPr>
            <a:r>
              <a:rPr lang="en-US" sz="2800" dirty="0"/>
              <a:t>Statistics in Nursing Research and Education</a:t>
            </a:r>
          </a:p>
          <a:p>
            <a:pPr marL="811530" lvl="1" indent="-514350">
              <a:spcBef>
                <a:spcPts val="0"/>
              </a:spcBef>
              <a:buClrTx/>
            </a:pPr>
            <a:endParaRPr lang="en-US" sz="2800" dirty="0"/>
          </a:p>
          <a:p>
            <a:pPr marL="811530" lvl="1" indent="-514350">
              <a:spcBef>
                <a:spcPts val="0"/>
              </a:spcBef>
              <a:buClrTx/>
            </a:pPr>
            <a:endParaRPr lang="en-US" sz="2800" dirty="0"/>
          </a:p>
          <a:p>
            <a:pPr marL="514350" indent="-514350">
              <a:spcBef>
                <a:spcPts val="0"/>
              </a:spcBef>
              <a:buClrTx/>
              <a:buFont typeface="+mj-lt"/>
              <a:buAutoNum type="romanUcPeriod"/>
            </a:pPr>
            <a:r>
              <a:rPr lang="en-US" sz="2800" dirty="0"/>
              <a:t>Classical Hypothesis &amp; Significance Testing</a:t>
            </a:r>
          </a:p>
          <a:p>
            <a:pPr marL="811530" lvl="1" indent="-514350">
              <a:spcBef>
                <a:spcPts val="0"/>
              </a:spcBef>
              <a:buClrTx/>
              <a:buFont typeface="+mj-lt"/>
              <a:buAutoNum type="romanUcPeriod"/>
            </a:pPr>
            <a:endParaRPr lang="en-US" sz="2800" dirty="0"/>
          </a:p>
          <a:p>
            <a:pPr marL="811530" lvl="1" indent="-514350">
              <a:spcBef>
                <a:spcPts val="0"/>
              </a:spcBef>
              <a:buClrTx/>
              <a:buFont typeface="+mj-lt"/>
              <a:buAutoNum type="romanUcPeriod"/>
            </a:pPr>
            <a:endParaRPr lang="en-US" sz="2800" dirty="0"/>
          </a:p>
          <a:p>
            <a:pPr marL="514350" indent="-514350">
              <a:spcBef>
                <a:spcPts val="0"/>
              </a:spcBef>
              <a:buClrTx/>
              <a:buFont typeface="+mj-lt"/>
              <a:buAutoNum type="romanUcPeriod"/>
            </a:pPr>
            <a:r>
              <a:rPr lang="en-US" sz="2800" dirty="0"/>
              <a:t>The ASA Movement</a:t>
            </a:r>
          </a:p>
          <a:p>
            <a:pPr marL="514350" indent="-514350">
              <a:spcBef>
                <a:spcPts val="0"/>
              </a:spcBef>
              <a:buClrTx/>
              <a:buFont typeface="+mj-lt"/>
              <a:buAutoNum type="romanUcPeriod"/>
            </a:pPr>
            <a:endParaRPr lang="en-US" sz="2800" dirty="0"/>
          </a:p>
          <a:p>
            <a:pPr marL="514350" indent="-514350">
              <a:spcBef>
                <a:spcPts val="0"/>
              </a:spcBef>
              <a:buClrTx/>
              <a:buFont typeface="+mj-lt"/>
              <a:buAutoNum type="romanUcPeriod"/>
            </a:pPr>
            <a:endParaRPr lang="en-US" sz="2800" dirty="0"/>
          </a:p>
          <a:p>
            <a:pPr marL="514350" indent="-514350">
              <a:spcBef>
                <a:spcPts val="0"/>
              </a:spcBef>
              <a:buClrTx/>
              <a:buFont typeface="+mj-lt"/>
              <a:buAutoNum type="romanUcPeriod"/>
            </a:pPr>
            <a:r>
              <a:rPr lang="en-US" sz="2800" dirty="0"/>
              <a:t>Recommendations for Change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3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8200" cy="1066800"/>
          </a:xfrm>
        </p:spPr>
        <p:txBody>
          <a:bodyPr/>
          <a:lstStyle/>
          <a:p>
            <a:r>
              <a:rPr lang="en-US" sz="3300" b="1" dirty="0"/>
              <a:t>Statistics in Nursing Research and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" y="1066800"/>
            <a:ext cx="8451980" cy="4876800"/>
          </a:xfrm>
        </p:spPr>
        <p:txBody>
          <a:bodyPr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n-US" u="sng" dirty="0"/>
              <a:t>Background</a:t>
            </a:r>
          </a:p>
          <a:p>
            <a:pPr>
              <a:spcAft>
                <a:spcPts val="600"/>
              </a:spcAft>
            </a:pPr>
            <a:r>
              <a:rPr lang="en-US" dirty="0"/>
              <a:t>We are members of a community of statisticians and quantitative methodologists involved in nursing education and research</a:t>
            </a:r>
          </a:p>
          <a:p>
            <a:pPr>
              <a:spcAft>
                <a:spcPts val="600"/>
              </a:spcAft>
            </a:pPr>
            <a:r>
              <a:rPr lang="en-US" dirty="0"/>
              <a:t>Our group includes faculty in academic nursing programs, statistics reviewers for nursing research journals, statistics educators who teach nursing students, and statistics collaborators on nursing research studies</a:t>
            </a:r>
          </a:p>
          <a:p>
            <a:r>
              <a:rPr lang="en-US" dirty="0"/>
              <a:t>Members of our group have participated in expert panel discussions and presentations at international statistics conferences about the use of statistics in nursing research and education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-Add about diversity of members…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96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295400"/>
            <a:ext cx="8458199" cy="5562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Our work was recently published as a guest editorial: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9" y="1696065"/>
            <a:ext cx="5181600" cy="30361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0" y="4732257"/>
            <a:ext cx="8458199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rgbClr val="376092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rgbClr val="37609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rgbClr val="37609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rgbClr val="37609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rgbClr val="37609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itchFamily="34" charset="0"/>
              <a:buNone/>
            </a:pPr>
            <a:r>
              <a:rPr lang="en-US" sz="1700" dirty="0"/>
              <a:t>This has also been published in </a:t>
            </a:r>
            <a:r>
              <a:rPr lang="en-US" sz="1700" b="1" i="1" dirty="0"/>
              <a:t>Nursing Outlook, Research in Nursing &amp; Health, Research and Theory for Nursing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1" y="5502606"/>
            <a:ext cx="8305800" cy="1046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50" dirty="0"/>
              <a:t>Hayat, M.J., Staggs, V.S., Schwartz, T.A., Higgins, M., Azuero, A., </a:t>
            </a:r>
            <a:r>
              <a:rPr lang="en-US" sz="1550" dirty="0" err="1"/>
              <a:t>Budhathoki</a:t>
            </a:r>
            <a:r>
              <a:rPr lang="en-US" sz="1550" dirty="0"/>
              <a:t>, C., Chandrasekhar, R., Cook, P., Cramer, E., Dietrich, M.S., Garnier-Villarreal, M., Hanlon, A., He, J., Hu, J., Kim, M., Mueller, M., Nolan, J.R., Perkhounkova, Y., Rothers, J., Schluck, G., Su, X., Templin, T.N., Weaver, M.T., Yang, Q., Ye, S. (2019). Moving nursing beyond p &lt; .05. </a:t>
            </a:r>
            <a:r>
              <a:rPr lang="en-US" sz="1550" i="1" dirty="0"/>
              <a:t>International Journal of Nursing Studies.</a:t>
            </a:r>
            <a:endParaRPr lang="en-US" sz="155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" y="0"/>
            <a:ext cx="8531787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Gill Sans MT" pitchFamily="34" charset="0"/>
                <a:ea typeface="+mj-ea"/>
                <a:cs typeface="+mj-cs"/>
              </a:defRPr>
            </a:lvl1pPr>
          </a:lstStyle>
          <a:p>
            <a:r>
              <a:rPr lang="en-US" sz="3300" b="1" dirty="0"/>
              <a:t>Statistics in Nursing Education and Research</a:t>
            </a:r>
            <a:br>
              <a:rPr lang="en-US" sz="3500" b="1" dirty="0"/>
            </a:br>
            <a:r>
              <a:rPr lang="en-US" sz="3000" b="1" dirty="0">
                <a:solidFill>
                  <a:srgbClr val="C00000"/>
                </a:solidFill>
              </a:rPr>
              <a:t>Moving Nursing Beyond </a:t>
            </a:r>
            <a:r>
              <a:rPr lang="en-US" sz="3000" b="1" i="1" dirty="0">
                <a:solidFill>
                  <a:srgbClr val="C00000"/>
                </a:solidFill>
              </a:rPr>
              <a:t>p</a:t>
            </a:r>
            <a:r>
              <a:rPr lang="en-US" sz="3000" b="1" dirty="0">
                <a:solidFill>
                  <a:srgbClr val="C00000"/>
                </a:solidFill>
              </a:rPr>
              <a:t>&lt;.05</a:t>
            </a:r>
          </a:p>
        </p:txBody>
      </p:sp>
    </p:spTree>
    <p:extLst>
      <p:ext uri="{BB962C8B-B14F-4D97-AF65-F5344CB8AC3E}">
        <p14:creationId xmlns:p14="http://schemas.microsoft.com/office/powerpoint/2010/main" val="43511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95441-411A-424A-9DAE-BA2C09D0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D01B440-5D19-4CB5-90DA-402D6296DA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4582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Gill Sans MT" pitchFamily="34" charset="0"/>
                <a:ea typeface="+mj-ea"/>
                <a:cs typeface="+mj-cs"/>
              </a:defRPr>
            </a:lvl1pPr>
          </a:lstStyle>
          <a:p>
            <a:r>
              <a:rPr lang="en-US" sz="3300" b="1"/>
              <a:t>The ASA Movement</a:t>
            </a:r>
            <a:endParaRPr lang="en-US" sz="33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F68F71-0C72-4327-AF52-F83B1BB1C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91701"/>
            <a:ext cx="4406521" cy="160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B1C41F-B542-490A-8918-4B93DBE4F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531" y="2026285"/>
            <a:ext cx="4893469" cy="1702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A4E799-F89C-45BD-B53D-44E2A5829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657600"/>
            <a:ext cx="5238750" cy="1750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F4C355-431E-4DCE-B4C9-89135C8FA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531" y="5033565"/>
            <a:ext cx="4441031" cy="175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1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3A979F-37AA-4209-B5AC-709BEFE0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19841"/>
            <a:ext cx="6172200" cy="513624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3013FE-6FFF-4F80-9DC5-357BC7BA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1" y="152401"/>
            <a:ext cx="8381999" cy="1219200"/>
          </a:xfrm>
        </p:spPr>
        <p:txBody>
          <a:bodyPr/>
          <a:lstStyle/>
          <a:p>
            <a:r>
              <a:rPr lang="en-US" sz="3600" dirty="0"/>
              <a:t>1925: Fisher, R. A. (1925), Statistical Methods </a:t>
            </a:r>
            <a:br>
              <a:rPr lang="en-US" sz="3600" dirty="0"/>
            </a:br>
            <a:r>
              <a:rPr lang="en-US" sz="3600" dirty="0"/>
              <a:t>for Research Workers, Edinburgh: Oliver &amp; Boyd.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745A61-5A00-4C0A-BAB7-29A820FA404C}"/>
              </a:ext>
            </a:extLst>
          </p:cNvPr>
          <p:cNvSpPr/>
          <p:nvPr/>
        </p:nvSpPr>
        <p:spPr>
          <a:xfrm>
            <a:off x="304800" y="2796121"/>
            <a:ext cx="6172200" cy="13280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32AB0-54CF-4749-8EBD-EC2DF88181E5}"/>
              </a:ext>
            </a:extLst>
          </p:cNvPr>
          <p:cNvSpPr txBox="1"/>
          <p:nvPr/>
        </p:nvSpPr>
        <p:spPr>
          <a:xfrm>
            <a:off x="5943600" y="6290101"/>
            <a:ext cx="21645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rgbClr val="FF0000"/>
                </a:solidFill>
              </a:rPr>
              <a:t>And so it began …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2C104F-81BF-497E-9B47-2B6F25FC8282}"/>
              </a:ext>
            </a:extLst>
          </p:cNvPr>
          <p:cNvCxnSpPr/>
          <p:nvPr/>
        </p:nvCxnSpPr>
        <p:spPr>
          <a:xfrm>
            <a:off x="152400" y="5943600"/>
            <a:ext cx="659102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50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3CDF-02C0-4079-AE4E-C127B63F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4" y="68640"/>
            <a:ext cx="7620000" cy="1143000"/>
          </a:xfrm>
        </p:spPr>
        <p:txBody>
          <a:bodyPr/>
          <a:lstStyle/>
          <a:p>
            <a:r>
              <a:rPr lang="en-US" sz="3600" dirty="0"/>
              <a:t>So, why do/did we do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48AF8-9E04-4802-88AF-B74070F5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81355"/>
            <a:ext cx="8112280" cy="31620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7D7C73-B4BB-4855-89DB-3F4A047EC1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77" y="4343400"/>
            <a:ext cx="3613263" cy="2356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2D1633-AF10-42E4-AB39-81B904735F8C}"/>
              </a:ext>
            </a:extLst>
          </p:cNvPr>
          <p:cNvSpPr txBox="1"/>
          <p:nvPr/>
        </p:nvSpPr>
        <p:spPr>
          <a:xfrm>
            <a:off x="4572000" y="4648200"/>
            <a:ext cx="342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 and on and on the vicious spiral continued …</a:t>
            </a:r>
          </a:p>
        </p:txBody>
      </p:sp>
    </p:spTree>
    <p:extLst>
      <p:ext uri="{BB962C8B-B14F-4D97-AF65-F5344CB8AC3E}">
        <p14:creationId xmlns:p14="http://schemas.microsoft.com/office/powerpoint/2010/main" val="61520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C222-35C4-4675-A6E1-3AC71245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1"/>
            <a:ext cx="7848600" cy="1243146"/>
          </a:xfrm>
        </p:spPr>
        <p:txBody>
          <a:bodyPr/>
          <a:lstStyle/>
          <a:p>
            <a:r>
              <a:rPr lang="en-US" sz="3600" dirty="0"/>
              <a:t>Warnings about p-values have been around a long time (100+ years)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B6776-B8D5-4BD5-9E73-7228DC8F2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35" y="2057400"/>
            <a:ext cx="8166329" cy="34920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64B662-D6AC-4530-8E10-404306847E3B}"/>
              </a:ext>
            </a:extLst>
          </p:cNvPr>
          <p:cNvCxnSpPr/>
          <p:nvPr/>
        </p:nvCxnSpPr>
        <p:spPr>
          <a:xfrm>
            <a:off x="457200" y="2895600"/>
            <a:ext cx="659102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59D15E-58F6-4607-9F02-E7B774A100C7}"/>
              </a:ext>
            </a:extLst>
          </p:cNvPr>
          <p:cNvCxnSpPr/>
          <p:nvPr/>
        </p:nvCxnSpPr>
        <p:spPr>
          <a:xfrm>
            <a:off x="1066800" y="3962400"/>
            <a:ext cx="659102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F39471-C12B-4B24-97F0-23114CCA5BE7}"/>
              </a:ext>
            </a:extLst>
          </p:cNvPr>
          <p:cNvCxnSpPr>
            <a:cxnSpLocks/>
          </p:cNvCxnSpPr>
          <p:nvPr/>
        </p:nvCxnSpPr>
        <p:spPr>
          <a:xfrm>
            <a:off x="533400" y="4724400"/>
            <a:ext cx="48587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89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05A5-FCD4-4982-930A-6356CA2B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2" y="69396"/>
            <a:ext cx="7620000" cy="1143000"/>
          </a:xfrm>
        </p:spPr>
        <p:txBody>
          <a:bodyPr/>
          <a:lstStyle/>
          <a:p>
            <a:r>
              <a:rPr lang="en-US" sz="3600" dirty="0"/>
              <a:t>What exactly is a p-value?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AF10F-6D96-4EE3-87C2-8C44AFEB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70" y="1066800"/>
            <a:ext cx="8122098" cy="5638800"/>
          </a:xfrm>
        </p:spPr>
        <p:txBody>
          <a:bodyPr>
            <a:noAutofit/>
          </a:bodyPr>
          <a:lstStyle/>
          <a:p>
            <a:r>
              <a:rPr lang="en-US" sz="3200" dirty="0"/>
              <a:t>Probability that the computed statistic based on the observed data is larger than what would be expected given that the NULL hypothesis is true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This tell us NOTHING about the data quality, effect size, importance, random chance, whether the null (Ho) hypothesis is true,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6EC2C-163C-4BA1-9BDA-515E3ADEAD7D}"/>
              </a:ext>
            </a:extLst>
          </p:cNvPr>
          <p:cNvSpPr txBox="1"/>
          <p:nvPr/>
        </p:nvSpPr>
        <p:spPr>
          <a:xfrm>
            <a:off x="319038" y="3563034"/>
            <a:ext cx="7811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P(statistic from data &gt; critical value | Ho)</a:t>
            </a:r>
          </a:p>
        </p:txBody>
      </p:sp>
    </p:spTree>
    <p:extLst>
      <p:ext uri="{BB962C8B-B14F-4D97-AF65-F5344CB8AC3E}">
        <p14:creationId xmlns:p14="http://schemas.microsoft.com/office/powerpoint/2010/main" val="354420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76C0-F5EF-4512-9813-D44A4C2D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trouble with p-values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5F9EAB-4BBA-4E3C-A217-D426DA2C2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54412"/>
            <a:ext cx="5181600" cy="38654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F1AEF8-3329-4D95-8FFC-B6DE85C40209}"/>
              </a:ext>
            </a:extLst>
          </p:cNvPr>
          <p:cNvSpPr txBox="1"/>
          <p:nvPr/>
        </p:nvSpPr>
        <p:spPr>
          <a:xfrm>
            <a:off x="855341" y="5556660"/>
            <a:ext cx="743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“The trouble with tribbles” Star-trek episode 15, season 2, 1967</a:t>
            </a:r>
          </a:p>
        </p:txBody>
      </p:sp>
    </p:spTree>
    <p:extLst>
      <p:ext uri="{BB962C8B-B14F-4D97-AF65-F5344CB8AC3E}">
        <p14:creationId xmlns:p14="http://schemas.microsoft.com/office/powerpoint/2010/main" val="326893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F40775-914B-4862-886C-2C2222037D89}"/>
              </a:ext>
            </a:extLst>
          </p:cNvPr>
          <p:cNvCxnSpPr/>
          <p:nvPr/>
        </p:nvCxnSpPr>
        <p:spPr>
          <a:xfrm>
            <a:off x="578644" y="3281963"/>
            <a:ext cx="70437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8129E56-D2E1-4374-B397-3D5E69F7B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72" y="996170"/>
            <a:ext cx="3503828" cy="492156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3450C1-F509-4053-A665-736F1525C602}"/>
              </a:ext>
            </a:extLst>
          </p:cNvPr>
          <p:cNvCxnSpPr/>
          <p:nvPr/>
        </p:nvCxnSpPr>
        <p:spPr>
          <a:xfrm>
            <a:off x="578644" y="3593791"/>
            <a:ext cx="70437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6AF293-7F2C-408F-ABB8-DC3C0928E446}"/>
              </a:ext>
            </a:extLst>
          </p:cNvPr>
          <p:cNvSpPr txBox="1"/>
          <p:nvPr/>
        </p:nvSpPr>
        <p:spPr>
          <a:xfrm>
            <a:off x="5145487" y="2422190"/>
            <a:ext cx="1768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YEA! Published!!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93F64-CC03-4D3D-A00A-4A43C69E0AF5}"/>
              </a:ext>
            </a:extLst>
          </p:cNvPr>
          <p:cNvSpPr txBox="1"/>
          <p:nvPr/>
        </p:nvSpPr>
        <p:spPr>
          <a:xfrm>
            <a:off x="5145488" y="4075733"/>
            <a:ext cx="2799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BUMMER! Not Published??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37185-2C3C-4E05-97DE-93FA7AAAD9DB}"/>
              </a:ext>
            </a:extLst>
          </p:cNvPr>
          <p:cNvSpPr txBox="1"/>
          <p:nvPr/>
        </p:nvSpPr>
        <p:spPr>
          <a:xfrm>
            <a:off x="5145488" y="5018658"/>
            <a:ext cx="316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publication bias was born…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9CAA3-4A5C-4329-BBC4-0915804B9216}"/>
              </a:ext>
            </a:extLst>
          </p:cNvPr>
          <p:cNvSpPr txBox="1"/>
          <p:nvPr/>
        </p:nvSpPr>
        <p:spPr>
          <a:xfrm>
            <a:off x="5145488" y="3250381"/>
            <a:ext cx="1297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Grey Area…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437B3-4D4C-4ABC-A1ED-2DA2F8C486B4}"/>
              </a:ext>
            </a:extLst>
          </p:cNvPr>
          <p:cNvSpPr txBox="1"/>
          <p:nvPr/>
        </p:nvSpPr>
        <p:spPr>
          <a:xfrm>
            <a:off x="1760782" y="5640733"/>
            <a:ext cx="187352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https://xkcd.com/1478/</a:t>
            </a:r>
            <a:endParaRPr lang="en-US" sz="135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1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112F2-2ED5-44A4-AD8C-6DFA600D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940"/>
          <a:stretch/>
        </p:blipFill>
        <p:spPr>
          <a:xfrm>
            <a:off x="149354" y="938404"/>
            <a:ext cx="3761706" cy="21977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84ACBB-6839-4C46-A7F8-470459ABC6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4" t="74861" r="19497"/>
          <a:stretch/>
        </p:blipFill>
        <p:spPr>
          <a:xfrm>
            <a:off x="6772940" y="2784500"/>
            <a:ext cx="2221706" cy="2614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F6348-0273-4BB2-8385-0B1F1B5861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7" b="65551"/>
          <a:stretch/>
        </p:blipFill>
        <p:spPr>
          <a:xfrm>
            <a:off x="149354" y="3363342"/>
            <a:ext cx="5554286" cy="20357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29A657-B09D-4A4F-9A74-989FAD974384}"/>
              </a:ext>
            </a:extLst>
          </p:cNvPr>
          <p:cNvSpPr txBox="1"/>
          <p:nvPr/>
        </p:nvSpPr>
        <p:spPr>
          <a:xfrm>
            <a:off x="149355" y="5487783"/>
            <a:ext cx="4914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 colors found p&gt;.05, not significant, except for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E2813-A5C9-4BB5-9FB1-977BD6BD59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44" t="47867" r="19496" b="38562"/>
          <a:stretch/>
        </p:blipFill>
        <p:spPr>
          <a:xfrm>
            <a:off x="5093738" y="938403"/>
            <a:ext cx="1455223" cy="26137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6267A9-C05A-4726-AF25-5CC9968676D3}"/>
              </a:ext>
            </a:extLst>
          </p:cNvPr>
          <p:cNvSpPr txBox="1"/>
          <p:nvPr/>
        </p:nvSpPr>
        <p:spPr>
          <a:xfrm>
            <a:off x="7241669" y="548778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P-hacking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131F2-2384-4B00-8AB9-5C17944F767D}"/>
              </a:ext>
            </a:extLst>
          </p:cNvPr>
          <p:cNvSpPr txBox="1"/>
          <p:nvPr/>
        </p:nvSpPr>
        <p:spPr>
          <a:xfrm>
            <a:off x="904068" y="3086343"/>
            <a:ext cx="178536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https://xkcd.com/882/</a:t>
            </a:r>
            <a:endParaRPr lang="en-US" sz="135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4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6FE93F-C149-4FF6-8D0F-6F9874CB1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8" y="1028700"/>
            <a:ext cx="8892284" cy="4800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DB229F-081F-47D7-8702-C757BD35D957}"/>
              </a:ext>
            </a:extLst>
          </p:cNvPr>
          <p:cNvSpPr txBox="1"/>
          <p:nvPr/>
        </p:nvSpPr>
        <p:spPr>
          <a:xfrm>
            <a:off x="2766490" y="1879092"/>
            <a:ext cx="9669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accent4">
                    <a:lumMod val="50000"/>
                  </a:schemeClr>
                </a:solidFill>
              </a:rPr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2775496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B2B8-4A66-4599-94F8-1C9776EF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ASA 6 Principles for p-values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7E2AF99-9D5E-49F3-AA76-AF1B57929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067301"/>
              </p:ext>
            </p:extLst>
          </p:nvPr>
        </p:nvGraphicFramePr>
        <p:xfrm>
          <a:off x="304800" y="1524000"/>
          <a:ext cx="7924800" cy="5059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7508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B2B8-4A66-4599-94F8-1C9776EF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ASA 6 Principles for p-values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3755046-AEFF-4231-99F8-52868B9814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641124"/>
              </p:ext>
            </p:extLst>
          </p:nvPr>
        </p:nvGraphicFramePr>
        <p:xfrm>
          <a:off x="228600" y="1461492"/>
          <a:ext cx="8001000" cy="512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969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DC6D8E-A710-4A54-B27F-3BE353AB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753"/>
            <a:ext cx="9144000" cy="45464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836B26-EEBE-4FEC-BD6D-31399DCEA9E3}"/>
              </a:ext>
            </a:extLst>
          </p:cNvPr>
          <p:cNvSpPr txBox="1"/>
          <p:nvPr/>
        </p:nvSpPr>
        <p:spPr>
          <a:xfrm>
            <a:off x="2571751" y="1933956"/>
            <a:ext cx="9669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accent4">
                    <a:lumMod val="50000"/>
                  </a:schemeClr>
                </a:solidFill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1081952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7404F3-0202-49CB-B98A-C56766B5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0" y="985837"/>
            <a:ext cx="6766560" cy="31889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A51C89-7823-463C-B552-E8C75A225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560" y="4174807"/>
            <a:ext cx="4740593" cy="11658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73BA7F-0D51-4A55-BACD-71B3FF057006}"/>
              </a:ext>
            </a:extLst>
          </p:cNvPr>
          <p:cNvSpPr txBox="1"/>
          <p:nvPr/>
        </p:nvSpPr>
        <p:spPr>
          <a:xfrm>
            <a:off x="764380" y="5450681"/>
            <a:ext cx="611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https://www.tandfonline.com/toc/utas20/73/sup1?nav=tocList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AA93A-0743-4301-87E5-FAA5155A8DB3}"/>
              </a:ext>
            </a:extLst>
          </p:cNvPr>
          <p:cNvSpPr txBox="1"/>
          <p:nvPr/>
        </p:nvSpPr>
        <p:spPr>
          <a:xfrm>
            <a:off x="5882166" y="3828558"/>
            <a:ext cx="2450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44 papers, 400+ pages!!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70B80F-BF9D-4547-865F-4E44CD6F43B2}"/>
              </a:ext>
            </a:extLst>
          </p:cNvPr>
          <p:cNvSpPr txBox="1"/>
          <p:nvPr/>
        </p:nvSpPr>
        <p:spPr>
          <a:xfrm>
            <a:off x="764380" y="6019800"/>
            <a:ext cx="716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Access – many written with practical advice but some with more in depth technical details</a:t>
            </a:r>
          </a:p>
        </p:txBody>
      </p:sp>
    </p:spTree>
    <p:extLst>
      <p:ext uri="{BB962C8B-B14F-4D97-AF65-F5344CB8AC3E}">
        <p14:creationId xmlns:p14="http://schemas.microsoft.com/office/powerpoint/2010/main" val="3948237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149D-2E4E-435D-AE1F-2B72FADF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ASA - </a:t>
            </a:r>
            <a:r>
              <a:rPr lang="en-US" dirty="0" err="1"/>
              <a:t>Don’t’s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98A79-226B-420A-91AD-61F81CC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19200"/>
            <a:ext cx="8368780" cy="4495800"/>
          </a:xfrm>
        </p:spPr>
        <p:txBody>
          <a:bodyPr>
            <a:noAutofit/>
          </a:bodyPr>
          <a:lstStyle/>
          <a:p>
            <a:r>
              <a:rPr lang="en-US" sz="3200" dirty="0"/>
              <a:t>Don’t base conclusions solely on “statistically significant” </a:t>
            </a:r>
          </a:p>
          <a:p>
            <a:r>
              <a:rPr lang="en-US" sz="3200" dirty="0"/>
              <a:t>Don’t believe that an association exists just because it was statistically significant.</a:t>
            </a:r>
          </a:p>
          <a:p>
            <a:r>
              <a:rPr lang="en-US" sz="3200" dirty="0"/>
              <a:t>Don’t believe that an association is absent just because it was not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3959925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149D-2E4E-435D-AE1F-2B72FADF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ASA - </a:t>
            </a:r>
            <a:r>
              <a:rPr lang="en-US" dirty="0" err="1"/>
              <a:t>Don’t’s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98A79-226B-420A-91AD-61F81CC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55" y="1295400"/>
            <a:ext cx="7712845" cy="4101606"/>
          </a:xfrm>
        </p:spPr>
        <p:txBody>
          <a:bodyPr>
            <a:noAutofit/>
          </a:bodyPr>
          <a:lstStyle/>
          <a:p>
            <a:r>
              <a:rPr lang="en-US" sz="3200" dirty="0"/>
              <a:t>Don’t believe that the p-value is the probability that the hypothesis is true.</a:t>
            </a:r>
          </a:p>
          <a:p>
            <a:r>
              <a:rPr lang="en-US" sz="3200" dirty="0"/>
              <a:t>Don’t conclude scientific importance based on statistical significance</a:t>
            </a:r>
          </a:p>
          <a:p>
            <a:r>
              <a:rPr lang="en-US" sz="3200" b="1" u="sng" dirty="0"/>
              <a:t>DON’T SAY “STATISTICALLY SIGNIFICANT”</a:t>
            </a:r>
          </a:p>
        </p:txBody>
      </p:sp>
    </p:spTree>
    <p:extLst>
      <p:ext uri="{BB962C8B-B14F-4D97-AF65-F5344CB8AC3E}">
        <p14:creationId xmlns:p14="http://schemas.microsoft.com/office/powerpoint/2010/main" val="4275017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124B-9950-4912-BD43-88B72979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STOP !</a:t>
            </a:r>
            <a:br>
              <a:rPr lang="en-US" sz="4800" dirty="0">
                <a:solidFill>
                  <a:schemeClr val="bg1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FED11-F952-4C5A-801B-CF5A1D786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400" y="2895601"/>
            <a:ext cx="2427685" cy="3129279"/>
          </a:xfrm>
        </p:spPr>
        <p:txBody>
          <a:bodyPr>
            <a:normAutofit/>
          </a:bodyPr>
          <a:lstStyle/>
          <a:p>
            <a:pPr algn="ctr"/>
            <a:r>
              <a:rPr lang="en-US" sz="2100" dirty="0">
                <a:solidFill>
                  <a:schemeClr val="bg1"/>
                </a:solidFill>
              </a:rPr>
              <a:t>STOP Saying/Writing</a:t>
            </a:r>
          </a:p>
          <a:p>
            <a:pPr algn="ctr"/>
            <a:endParaRPr lang="en-US" sz="2100" dirty="0">
              <a:solidFill>
                <a:schemeClr val="bg1"/>
              </a:solidFill>
            </a:endParaRPr>
          </a:p>
          <a:p>
            <a:pPr algn="ctr"/>
            <a:r>
              <a:rPr lang="en-US" sz="2100" dirty="0">
                <a:solidFill>
                  <a:schemeClr val="bg1"/>
                </a:solidFill>
              </a:rPr>
              <a:t>“Statistically</a:t>
            </a:r>
          </a:p>
          <a:p>
            <a:pPr algn="ctr"/>
            <a:r>
              <a:rPr lang="en-US" sz="2100" dirty="0">
                <a:solidFill>
                  <a:schemeClr val="bg1"/>
                </a:solidFill>
              </a:rPr>
              <a:t>  Significant”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620E4D-BEC2-4844-A726-BEA20675F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085" y="1953816"/>
            <a:ext cx="6200107" cy="307538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3090982-5B3E-4911-B5A3-0F771BAF10CB}"/>
              </a:ext>
            </a:extLst>
          </p:cNvPr>
          <p:cNvSpPr/>
          <p:nvPr/>
        </p:nvSpPr>
        <p:spPr>
          <a:xfrm>
            <a:off x="2907506" y="3614738"/>
            <a:ext cx="6200107" cy="15394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C3A40B-5CC1-47A4-B5D2-F7BB2B5E300B}"/>
              </a:ext>
            </a:extLst>
          </p:cNvPr>
          <p:cNvCxnSpPr>
            <a:cxnSpLocks/>
          </p:cNvCxnSpPr>
          <p:nvPr/>
        </p:nvCxnSpPr>
        <p:spPr>
          <a:xfrm>
            <a:off x="3870197" y="4733462"/>
            <a:ext cx="48587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92BD18-0A30-42A3-8756-DB5E4ACF17A6}"/>
              </a:ext>
            </a:extLst>
          </p:cNvPr>
          <p:cNvSpPr txBox="1"/>
          <p:nvPr/>
        </p:nvSpPr>
        <p:spPr>
          <a:xfrm>
            <a:off x="3733799" y="5748338"/>
            <a:ext cx="4995169" cy="652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However, still report p-values, BUT don’t use dichotomous decision making …</a:t>
            </a:r>
          </a:p>
        </p:txBody>
      </p:sp>
    </p:spTree>
    <p:extLst>
      <p:ext uri="{BB962C8B-B14F-4D97-AF65-F5344CB8AC3E}">
        <p14:creationId xmlns:p14="http://schemas.microsoft.com/office/powerpoint/2010/main" val="205165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124B-9950-4912-BD43-88B72979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1828800"/>
            <a:ext cx="2094869" cy="2697481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There is hope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8C1D2F-7B9D-481B-A742-4E0D1278B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523999"/>
            <a:ext cx="4876800" cy="335169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1F844E-FCDC-4190-9B73-51463D478A69}"/>
              </a:ext>
            </a:extLst>
          </p:cNvPr>
          <p:cNvSpPr txBox="1"/>
          <p:nvPr/>
        </p:nvSpPr>
        <p:spPr>
          <a:xfrm>
            <a:off x="3796882" y="5041613"/>
            <a:ext cx="5207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Don’t jump off a cliff just yet…</a:t>
            </a:r>
          </a:p>
        </p:txBody>
      </p:sp>
    </p:spTree>
    <p:extLst>
      <p:ext uri="{BB962C8B-B14F-4D97-AF65-F5344CB8AC3E}">
        <p14:creationId xmlns:p14="http://schemas.microsoft.com/office/powerpoint/2010/main" val="1205951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AC43-9C2E-4D5C-83D1-AD5FCEE3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4638"/>
            <a:ext cx="7696200" cy="1143000"/>
          </a:xfrm>
        </p:spPr>
        <p:txBody>
          <a:bodyPr/>
          <a:lstStyle/>
          <a:p>
            <a:r>
              <a:rPr lang="en-US" dirty="0"/>
              <a:t>P-values are a result not the end goal</a:t>
            </a:r>
          </a:p>
        </p:txBody>
      </p:sp>
      <p:pic>
        <p:nvPicPr>
          <p:cNvPr id="4" name="puppyTunnel">
            <a:hlinkClick r:id="" action="ppaction://media"/>
            <a:extLst>
              <a:ext uri="{FF2B5EF4-FFF2-40B4-BE49-F238E27FC236}">
                <a16:creationId xmlns:a16="http://schemas.microsoft.com/office/drawing/2014/main" id="{4CF18E6A-1039-406A-BCA6-3C52760909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" y="1676400"/>
            <a:ext cx="632894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2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ADFF-8E02-42BF-AB7F-7D567C8F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4323C-CB85-4A4C-AA7D-57BDB82F9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3189"/>
            <a:ext cx="6571059" cy="3282518"/>
          </a:xfrm>
        </p:spPr>
        <p:txBody>
          <a:bodyPr>
            <a:noAutofit/>
          </a:bodyPr>
          <a:lstStyle/>
          <a:p>
            <a:r>
              <a:rPr lang="en-US" sz="3200" dirty="0"/>
              <a:t> meaningful differences</a:t>
            </a:r>
          </a:p>
          <a:p>
            <a:pPr lvl="1"/>
            <a:r>
              <a:rPr lang="en-US" sz="3200" dirty="0"/>
              <a:t>A1c reduced from 12 to 8.4</a:t>
            </a:r>
          </a:p>
          <a:p>
            <a:pPr lvl="1"/>
            <a:r>
              <a:rPr lang="en-US" sz="3200" dirty="0"/>
              <a:t>We see an improvement of 30%</a:t>
            </a:r>
          </a:p>
          <a:p>
            <a:pPr lvl="1"/>
            <a:endParaRPr lang="en-US" sz="3200" dirty="0"/>
          </a:p>
          <a:p>
            <a:r>
              <a:rPr lang="en-US" sz="3200" dirty="0"/>
              <a:t> meaningful thresholds</a:t>
            </a:r>
          </a:p>
          <a:p>
            <a:pPr lvl="1"/>
            <a:r>
              <a:rPr lang="en-US" sz="3200" dirty="0"/>
              <a:t>A1c &gt;&gt; 6 – still diabetes</a:t>
            </a:r>
          </a:p>
        </p:txBody>
      </p:sp>
    </p:spTree>
    <p:extLst>
      <p:ext uri="{BB962C8B-B14F-4D97-AF65-F5344CB8AC3E}">
        <p14:creationId xmlns:p14="http://schemas.microsoft.com/office/powerpoint/2010/main" val="178590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547-A12A-4AEC-87E6-CA637D699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9970"/>
            <a:ext cx="7620000" cy="792162"/>
          </a:xfrm>
        </p:spPr>
        <p:txBody>
          <a:bodyPr/>
          <a:lstStyle/>
          <a:p>
            <a:r>
              <a:rPr lang="en-US" dirty="0"/>
              <a:t>It’s not all about p&lt;.05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52562-A11F-42FC-929F-2D44BF995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69690"/>
            <a:ext cx="8148318" cy="5835909"/>
          </a:xfrm>
        </p:spPr>
        <p:txBody>
          <a:bodyPr>
            <a:noAutofit/>
          </a:bodyPr>
          <a:lstStyle/>
          <a:p>
            <a:r>
              <a:rPr lang="en-US" sz="3200" dirty="0"/>
              <a:t> sample size – would you change practice</a:t>
            </a:r>
          </a:p>
          <a:p>
            <a:pPr lvl="1"/>
            <a:r>
              <a:rPr lang="en-US" sz="3200" dirty="0"/>
              <a:t>based on 15 or 20 observations?</a:t>
            </a:r>
          </a:p>
          <a:p>
            <a:pPr lvl="1"/>
            <a:r>
              <a:rPr lang="en-US" sz="3200" dirty="0"/>
              <a:t>based on only one or a few studies?</a:t>
            </a:r>
          </a:p>
        </p:txBody>
      </p:sp>
      <p:pic>
        <p:nvPicPr>
          <p:cNvPr id="4" name="Picture 3" descr="herd_of_goats_small.jpeg">
            <a:extLst>
              <a:ext uri="{FF2B5EF4-FFF2-40B4-BE49-F238E27FC236}">
                <a16:creationId xmlns:a16="http://schemas.microsoft.com/office/drawing/2014/main" id="{CA599BB4-F9AE-4143-8000-1E0D501A43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66" t="27892"/>
          <a:stretch/>
        </p:blipFill>
        <p:spPr>
          <a:xfrm>
            <a:off x="533400" y="3129266"/>
            <a:ext cx="3347332" cy="2683705"/>
          </a:xfrm>
          <a:prstGeom prst="rect">
            <a:avLst/>
          </a:prstGeom>
        </p:spPr>
      </p:pic>
      <p:pic>
        <p:nvPicPr>
          <p:cNvPr id="5" name="Picture 4" descr="herd_of_goats_big.jpeg">
            <a:extLst>
              <a:ext uri="{FF2B5EF4-FFF2-40B4-BE49-F238E27FC236}">
                <a16:creationId xmlns:a16="http://schemas.microsoft.com/office/drawing/2014/main" id="{96EF3CA0-5624-4269-A12B-8DF9CD208F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0"/>
          <a:stretch/>
        </p:blipFill>
        <p:spPr>
          <a:xfrm>
            <a:off x="4265437" y="3129266"/>
            <a:ext cx="3919706" cy="268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50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B6A8-CA9B-45ED-8EC0-E04EC69E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Case(s) in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630CE-4766-4AD8-BA68-63DECFFE9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67927"/>
            <a:ext cx="7924800" cy="4800600"/>
          </a:xfrm>
        </p:spPr>
        <p:txBody>
          <a:bodyPr>
            <a:normAutofit/>
          </a:bodyPr>
          <a:lstStyle/>
          <a:p>
            <a:r>
              <a:rPr lang="en-US" dirty="0"/>
              <a:t>Question: Is subcutaneous heparin more effective than intravenous heparin (initial treatment of DVT)?</a:t>
            </a:r>
          </a:p>
          <a:p>
            <a:r>
              <a:rPr lang="en-US" dirty="0"/>
              <a:t>Hommes, et.al. (1992) </a:t>
            </a:r>
            <a:r>
              <a:rPr lang="en-US" i="1" dirty="0"/>
              <a:t>Annals of Internal Medicine, 116</a:t>
            </a:r>
            <a:r>
              <a:rPr lang="en-US" dirty="0"/>
              <a:t>: 279-284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Odds Ratio 0.62 </a:t>
            </a:r>
          </a:p>
          <a:p>
            <a:pPr lvl="1"/>
            <a:r>
              <a:rPr lang="en-US" dirty="0"/>
              <a:t>95% CI [0.39, 0.98]</a:t>
            </a:r>
          </a:p>
          <a:p>
            <a:pPr lvl="1"/>
            <a:r>
              <a:rPr lang="en-US" dirty="0"/>
              <a:t>p &lt; 0.05: Yes, subcutaneous heparin more effective than intravenous heparin</a:t>
            </a:r>
          </a:p>
          <a:p>
            <a:r>
              <a:rPr lang="en-US" dirty="0" err="1"/>
              <a:t>Messori</a:t>
            </a:r>
            <a:r>
              <a:rPr lang="en-US" dirty="0"/>
              <a:t>, et.al. (1993) </a:t>
            </a:r>
            <a:r>
              <a:rPr lang="en-US" i="1" dirty="0"/>
              <a:t>Annals of Internal Medicine, 118</a:t>
            </a:r>
            <a:r>
              <a:rPr lang="en-US" dirty="0"/>
              <a:t>: 77-78.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Odds Ratio 0.61 </a:t>
            </a:r>
          </a:p>
          <a:p>
            <a:pPr lvl="1"/>
            <a:r>
              <a:rPr lang="en-US" dirty="0"/>
              <a:t>95% CI [0.298, 1.251] </a:t>
            </a:r>
          </a:p>
          <a:p>
            <a:pPr lvl="1"/>
            <a:r>
              <a:rPr lang="en-US" dirty="0"/>
              <a:t>p &gt; 0.05, No, subcutaneous heparin is not (significantly) more effective than intravenous heparin</a:t>
            </a:r>
          </a:p>
          <a:p>
            <a:r>
              <a:rPr lang="en-US" dirty="0"/>
              <a:t>Findings are “opposite” (in statistical significance, but OR similar)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9A11A-D803-4583-9B18-7CD316F2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37CC3-26A5-44A8-8C41-FA2ABB862341}"/>
              </a:ext>
            </a:extLst>
          </p:cNvPr>
          <p:cNvSpPr txBox="1"/>
          <p:nvPr/>
        </p:nvSpPr>
        <p:spPr>
          <a:xfrm>
            <a:off x="0" y="6211669"/>
            <a:ext cx="837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McShane, B., Gal, D. (2016). “Blinding us to the obvious? The effect of statistical training on the evaluation of evidence,” </a:t>
            </a:r>
            <a:r>
              <a:rPr lang="en-US" i="1" dirty="0"/>
              <a:t>Management Science, 62 (6)</a:t>
            </a:r>
            <a:r>
              <a:rPr lang="en-US" dirty="0"/>
              <a:t>, 1707-1718</a:t>
            </a:r>
          </a:p>
        </p:txBody>
      </p:sp>
    </p:spTree>
    <p:extLst>
      <p:ext uri="{BB962C8B-B14F-4D97-AF65-F5344CB8AC3E}">
        <p14:creationId xmlns:p14="http://schemas.microsoft.com/office/powerpoint/2010/main" val="1441935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7422-E80A-45ED-B91F-2B8D4FA9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– multiple studies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93535-BD72-4F26-A752-72F9FB69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16303-33EC-401C-AB35-34007AAA6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8130"/>
            <a:ext cx="6874570" cy="57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14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547-A12A-4AEC-87E6-CA637D699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70"/>
            <a:ext cx="8458200" cy="792162"/>
          </a:xfrm>
        </p:spPr>
        <p:txBody>
          <a:bodyPr/>
          <a:lstStyle/>
          <a:p>
            <a:r>
              <a:rPr lang="en-US" dirty="0"/>
              <a:t>It’s not all about p&lt;.05: Effect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52562-A11F-42FC-929F-2D44BF995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9690"/>
            <a:ext cx="9144000" cy="58477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3200" dirty="0"/>
              <a:t>How big is the difference relative to the variability?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D7D38-DB80-47C1-BF94-9960E9BFB8EE}"/>
              </a:ext>
            </a:extLst>
          </p:cNvPr>
          <p:cNvSpPr txBox="1"/>
          <p:nvPr/>
        </p:nvSpPr>
        <p:spPr>
          <a:xfrm>
            <a:off x="1048575" y="1470981"/>
            <a:ext cx="1332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66CC"/>
                </a:solidFill>
              </a:rPr>
              <a:t>SMALL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22A2F-126F-4BD1-9018-4344958960CB}"/>
              </a:ext>
            </a:extLst>
          </p:cNvPr>
          <p:cNvSpPr txBox="1"/>
          <p:nvPr/>
        </p:nvSpPr>
        <p:spPr>
          <a:xfrm>
            <a:off x="3880860" y="1468537"/>
            <a:ext cx="17379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66CC"/>
                </a:solidFill>
              </a:rPr>
              <a:t>MEDIUM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BB49A-3715-4AA6-8667-0CDF520CCD4B}"/>
              </a:ext>
            </a:extLst>
          </p:cNvPr>
          <p:cNvSpPr txBox="1"/>
          <p:nvPr/>
        </p:nvSpPr>
        <p:spPr>
          <a:xfrm>
            <a:off x="6878376" y="1470981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66CC"/>
                </a:solidFill>
              </a:rPr>
              <a:t>LARGE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0B310A-7A22-4A9F-BFEE-422971F97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04"/>
          <a:stretch/>
        </p:blipFill>
        <p:spPr>
          <a:xfrm>
            <a:off x="199053" y="2004259"/>
            <a:ext cx="2842352" cy="43203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D5DB5D-2AA5-40CC-9F82-529C57D92C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138"/>
          <a:stretch/>
        </p:blipFill>
        <p:spPr>
          <a:xfrm>
            <a:off x="3020140" y="2004259"/>
            <a:ext cx="2939402" cy="4320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E1F16D-A888-4212-A05A-6A973E9CCB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104"/>
          <a:stretch/>
        </p:blipFill>
        <p:spPr>
          <a:xfrm>
            <a:off x="5938277" y="2004260"/>
            <a:ext cx="2842352" cy="43203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1B0EA9-6E75-4BAC-94A1-6E43A1D368FC}"/>
              </a:ext>
            </a:extLst>
          </p:cNvPr>
          <p:cNvSpPr txBox="1"/>
          <p:nvPr/>
        </p:nvSpPr>
        <p:spPr>
          <a:xfrm>
            <a:off x="1143000" y="5094631"/>
            <a:ext cx="1313180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d = 0.3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8AA2E-A96A-43C0-B7D1-5E0FFF45ECDE}"/>
              </a:ext>
            </a:extLst>
          </p:cNvPr>
          <p:cNvSpPr txBox="1"/>
          <p:nvPr/>
        </p:nvSpPr>
        <p:spPr>
          <a:xfrm>
            <a:off x="4114800" y="5094630"/>
            <a:ext cx="1313180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d = 0.5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ED9C40-89B1-4500-BE7E-5CB5227EA66C}"/>
              </a:ext>
            </a:extLst>
          </p:cNvPr>
          <p:cNvSpPr txBox="1"/>
          <p:nvPr/>
        </p:nvSpPr>
        <p:spPr>
          <a:xfrm>
            <a:off x="7032937" y="5094630"/>
            <a:ext cx="1313180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d = 0.8</a:t>
            </a:r>
          </a:p>
        </p:txBody>
      </p:sp>
    </p:spTree>
    <p:extLst>
      <p:ext uri="{BB962C8B-B14F-4D97-AF65-F5344CB8AC3E}">
        <p14:creationId xmlns:p14="http://schemas.microsoft.com/office/powerpoint/2010/main" val="15641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316051-69B6-4109-86B0-6AF8215A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7620000" cy="685800"/>
          </a:xfrm>
        </p:spPr>
        <p:txBody>
          <a:bodyPr/>
          <a:lstStyle/>
          <a:p>
            <a:r>
              <a:rPr lang="en-US" dirty="0"/>
              <a:t>Effect Size: Correlation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716C8-F7AC-45A9-A58E-CA1D071F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168C52-698B-48A4-8020-81D0BC119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762000"/>
            <a:ext cx="3573463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C49669-4590-485F-BB64-71514A5ED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711" y="762000"/>
            <a:ext cx="3573463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10">
            <a:extLst>
              <a:ext uri="{FF2B5EF4-FFF2-40B4-BE49-F238E27FC236}">
                <a16:creationId xmlns:a16="http://schemas.microsoft.com/office/drawing/2014/main" id="{B5C450B0-9AFA-4596-A453-C60FC7494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624" y="1057275"/>
            <a:ext cx="2416175" cy="2058988"/>
          </a:xfrm>
          <a:prstGeom prst="ellips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DD748319-5FC1-433B-BE5A-DE3977141919}"/>
              </a:ext>
            </a:extLst>
          </p:cNvPr>
          <p:cNvSpPr>
            <a:spLocks noChangeArrowheads="1"/>
          </p:cNvSpPr>
          <p:nvPr/>
        </p:nvSpPr>
        <p:spPr bwMode="auto">
          <a:xfrm rot="19496791">
            <a:off x="5211886" y="1377950"/>
            <a:ext cx="3136900" cy="1595438"/>
          </a:xfrm>
          <a:prstGeom prst="ellips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97774061-828D-4A54-995D-B9D1CC122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779898"/>
            <a:ext cx="3573463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1">
            <a:extLst>
              <a:ext uri="{FF2B5EF4-FFF2-40B4-BE49-F238E27FC236}">
                <a16:creationId xmlns:a16="http://schemas.microsoft.com/office/drawing/2014/main" id="{B84C752B-3EFF-493D-838B-E62FA897190F}"/>
              </a:ext>
            </a:extLst>
          </p:cNvPr>
          <p:cNvSpPr>
            <a:spLocks noChangeArrowheads="1"/>
          </p:cNvSpPr>
          <p:nvPr/>
        </p:nvSpPr>
        <p:spPr bwMode="auto">
          <a:xfrm rot="19496791">
            <a:off x="2827338" y="4654610"/>
            <a:ext cx="3044825" cy="646113"/>
          </a:xfrm>
          <a:prstGeom prst="ellips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6CA70B-29BD-4B31-BDFC-5D8390C3B856}"/>
              </a:ext>
            </a:extLst>
          </p:cNvPr>
          <p:cNvSpPr txBox="1"/>
          <p:nvPr/>
        </p:nvSpPr>
        <p:spPr>
          <a:xfrm>
            <a:off x="3046996" y="684689"/>
            <a:ext cx="1342034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R=.016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B6F9B9-A833-4EBB-8558-6AF55A2D6F0D}"/>
              </a:ext>
            </a:extLst>
          </p:cNvPr>
          <p:cNvSpPr txBox="1"/>
          <p:nvPr/>
        </p:nvSpPr>
        <p:spPr>
          <a:xfrm>
            <a:off x="6873921" y="3059914"/>
            <a:ext cx="1342034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R=.667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7625F-ECF7-41E8-BFE8-7D1A03409D93}"/>
              </a:ext>
            </a:extLst>
          </p:cNvPr>
          <p:cNvSpPr txBox="1"/>
          <p:nvPr/>
        </p:nvSpPr>
        <p:spPr>
          <a:xfrm>
            <a:off x="2919912" y="3707309"/>
            <a:ext cx="1342034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R=.979</a:t>
            </a:r>
          </a:p>
        </p:txBody>
      </p:sp>
    </p:spTree>
    <p:extLst>
      <p:ext uri="{BB962C8B-B14F-4D97-AF65-F5344CB8AC3E}">
        <p14:creationId xmlns:p14="http://schemas.microsoft.com/office/powerpoint/2010/main" val="327656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4F06-A603-4ACF-977A-E54EBCAB5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Sizes -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E8C32-112C-4820-A6BC-92503F6B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30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4CA6CA4-B2A3-4503-9BA3-1E6658856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784266"/>
              </p:ext>
            </p:extLst>
          </p:nvPr>
        </p:nvGraphicFramePr>
        <p:xfrm>
          <a:off x="228600" y="1295400"/>
          <a:ext cx="8001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361823776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415962181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542654056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678503280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605076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Statistical Test or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Effect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748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Cohen’s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219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9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Chi-square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400" dirty="0"/>
                        <a:t>ω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66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Cohen’s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93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Linear Regression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20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Linear Regression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Standardized Beta </a:t>
                      </a:r>
                      <a:r>
                        <a:rPr lang="el-GR" sz="2400" dirty="0"/>
                        <a:t>β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156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Logistic Regression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9509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1CFAAEE-5FF0-4A91-9F68-151E94346EAE}"/>
              </a:ext>
            </a:extLst>
          </p:cNvPr>
          <p:cNvSpPr txBox="1"/>
          <p:nvPr/>
        </p:nvSpPr>
        <p:spPr>
          <a:xfrm>
            <a:off x="228600" y="6214030"/>
            <a:ext cx="7172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2"/>
              </a:rPr>
              <a:t>https://www.psychometrica.de/effect_size.html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9051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E97C-767C-4159-A017-70289349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7620000" cy="838200"/>
          </a:xfrm>
        </p:spPr>
        <p:txBody>
          <a:bodyPr/>
          <a:lstStyle/>
          <a:p>
            <a:r>
              <a:rPr lang="en-US" dirty="0"/>
              <a:t>What to do?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D0435B-8A24-4818-99A5-937C7DC8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91FE447-E01F-428A-B63F-EC10E2D6ED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251849"/>
              </p:ext>
            </p:extLst>
          </p:nvPr>
        </p:nvGraphicFramePr>
        <p:xfrm>
          <a:off x="63572" y="838201"/>
          <a:ext cx="8318428" cy="5988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6745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EEC3D8-C94F-42A6-A15E-EC8B49C7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96" y="0"/>
            <a:ext cx="9144000" cy="762000"/>
          </a:xfrm>
        </p:spPr>
        <p:txBody>
          <a:bodyPr/>
          <a:lstStyle/>
          <a:p>
            <a:r>
              <a:rPr lang="en-US" dirty="0"/>
              <a:t>Recent Example – Nursing Outlook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C07D03-5B55-4ABB-A3DE-DB65997E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D5B2CC-CDD5-463B-9202-62B5F187E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96" y="1143000"/>
            <a:ext cx="9144000" cy="547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52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90F53D-02DD-47F6-BEB4-E7D01317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C8D0-3853-4904-A782-3CCA19F2188B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55D1C-3594-4ED2-BED9-377118BF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1696"/>
            <a:ext cx="9144000" cy="26136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D01F28-49BC-4643-B9C4-EC55A815BC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832"/>
          <a:stretch/>
        </p:blipFill>
        <p:spPr>
          <a:xfrm>
            <a:off x="128587" y="831785"/>
            <a:ext cx="5876925" cy="3206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AACADE-85FF-4F24-8BEB-3858F69B9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" y="155510"/>
            <a:ext cx="591502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86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8438</TotalTime>
  <Words>1191</Words>
  <Application>Microsoft Office PowerPoint</Application>
  <PresentationFormat>On-screen Show (4:3)</PresentationFormat>
  <Paragraphs>203</Paragraphs>
  <Slides>33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Gill Sans MT</vt:lpstr>
      <vt:lpstr>Adjacency</vt:lpstr>
      <vt:lpstr>Moving nursing beyond p&lt;.05</vt:lpstr>
      <vt:lpstr>Presenters</vt:lpstr>
      <vt:lpstr>Outline</vt:lpstr>
      <vt:lpstr>Statistics in Nursing Research and Education</vt:lpstr>
      <vt:lpstr>PowerPoint Presentation</vt:lpstr>
      <vt:lpstr>PowerPoint Presentation</vt:lpstr>
      <vt:lpstr>1925: Fisher, R. A. (1925), Statistical Methods  for Research Workers, Edinburgh: Oliver &amp; Boyd.</vt:lpstr>
      <vt:lpstr>So, why do/did we do it?</vt:lpstr>
      <vt:lpstr>Warnings about p-values have been around a long time (100+ years)</vt:lpstr>
      <vt:lpstr>What exactly is a p-value?</vt:lpstr>
      <vt:lpstr>The trouble with p-values</vt:lpstr>
      <vt:lpstr>PowerPoint Presentation</vt:lpstr>
      <vt:lpstr>PowerPoint Presentation</vt:lpstr>
      <vt:lpstr>PowerPoint Presentation</vt:lpstr>
      <vt:lpstr>ASA 6 Principles for p-values</vt:lpstr>
      <vt:lpstr>ASA 6 Principles for p-values</vt:lpstr>
      <vt:lpstr>PowerPoint Presentation</vt:lpstr>
      <vt:lpstr>PowerPoint Presentation</vt:lpstr>
      <vt:lpstr>ASA - Don’t’s</vt:lpstr>
      <vt:lpstr>ASA - Don’t’s</vt:lpstr>
      <vt:lpstr>STOP ! </vt:lpstr>
      <vt:lpstr>There is hope </vt:lpstr>
      <vt:lpstr>P-values are a result not the end goal</vt:lpstr>
      <vt:lpstr>Common sense</vt:lpstr>
      <vt:lpstr>It’s not all about p&lt;.05</vt:lpstr>
      <vt:lpstr>Case(s) in Point</vt:lpstr>
      <vt:lpstr>Meta-Analysis – multiple studies</vt:lpstr>
      <vt:lpstr>It’s not all about p&lt;.05: Effect Size</vt:lpstr>
      <vt:lpstr>Effect Size: Correlation</vt:lpstr>
      <vt:lpstr>Effect Sizes - Examples</vt:lpstr>
      <vt:lpstr>What to do?</vt:lpstr>
      <vt:lpstr>Recent Example – Nursing Outlook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 Marine</dc:creator>
  <cp:lastModifiedBy>Higgins, Melinda K</cp:lastModifiedBy>
  <cp:revision>773</cp:revision>
  <cp:lastPrinted>2020-03-03T18:46:50Z</cp:lastPrinted>
  <dcterms:created xsi:type="dcterms:W3CDTF">2013-01-24T15:01:54Z</dcterms:created>
  <dcterms:modified xsi:type="dcterms:W3CDTF">2020-08-30T20:39:08Z</dcterms:modified>
</cp:coreProperties>
</file>