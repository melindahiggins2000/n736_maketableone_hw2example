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CDFB95-B342-4F50-BA08-C919016F018C}" v="7" dt="2024-09-03T21:20:50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4" autoAdjust="0"/>
    <p:restoredTop sz="82633" autoAdjust="0"/>
  </p:normalViewPr>
  <p:slideViewPr>
    <p:cSldViewPr snapToGrid="0">
      <p:cViewPr varScale="1">
        <p:scale>
          <a:sx n="79" d="100"/>
          <a:sy n="79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lkmans, Jordan" userId="b1a91724-4b98-42c6-8627-8ea89a6fcf88" providerId="ADAL" clId="{F3CDFB95-B342-4F50-BA08-C919016F018C}"/>
    <pc:docChg chg="custSel addSld modSld">
      <pc:chgData name="Pelkmans, Jordan" userId="b1a91724-4b98-42c6-8627-8ea89a6fcf88" providerId="ADAL" clId="{F3CDFB95-B342-4F50-BA08-C919016F018C}" dt="2024-09-03T21:31:36.471" v="1033" actId="1076"/>
      <pc:docMkLst>
        <pc:docMk/>
      </pc:docMkLst>
      <pc:sldChg chg="modNotesTx">
        <pc:chgData name="Pelkmans, Jordan" userId="b1a91724-4b98-42c6-8627-8ea89a6fcf88" providerId="ADAL" clId="{F3CDFB95-B342-4F50-BA08-C919016F018C}" dt="2024-09-03T21:21:42.150" v="887" actId="20577"/>
        <pc:sldMkLst>
          <pc:docMk/>
          <pc:sldMk cId="2993234774" sldId="258"/>
        </pc:sldMkLst>
      </pc:sldChg>
      <pc:sldChg chg="addSp delSp modSp new mod">
        <pc:chgData name="Pelkmans, Jordan" userId="b1a91724-4b98-42c6-8627-8ea89a6fcf88" providerId="ADAL" clId="{F3CDFB95-B342-4F50-BA08-C919016F018C}" dt="2024-09-03T21:22:59.491" v="977" actId="20577"/>
        <pc:sldMkLst>
          <pc:docMk/>
          <pc:sldMk cId="149348139" sldId="261"/>
        </pc:sldMkLst>
        <pc:spChg chg="mod">
          <ac:chgData name="Pelkmans, Jordan" userId="b1a91724-4b98-42c6-8627-8ea89a6fcf88" providerId="ADAL" clId="{F3CDFB95-B342-4F50-BA08-C919016F018C}" dt="2024-09-03T17:37:31.387" v="22" actId="207"/>
          <ac:spMkLst>
            <pc:docMk/>
            <pc:sldMk cId="149348139" sldId="261"/>
            <ac:spMk id="2" creationId="{BDB47CB9-BB9F-FCD2-047F-E610878DA9A2}"/>
          </ac:spMkLst>
        </pc:spChg>
        <pc:spChg chg="del">
          <ac:chgData name="Pelkmans, Jordan" userId="b1a91724-4b98-42c6-8627-8ea89a6fcf88" providerId="ADAL" clId="{F3CDFB95-B342-4F50-BA08-C919016F018C}" dt="2024-09-03T17:37:34.468" v="23" actId="478"/>
          <ac:spMkLst>
            <pc:docMk/>
            <pc:sldMk cId="149348139" sldId="261"/>
            <ac:spMk id="3" creationId="{EBD60F80-673E-2879-0202-83652F6A237A}"/>
          </ac:spMkLst>
        </pc:spChg>
        <pc:spChg chg="add mod ord">
          <ac:chgData name="Pelkmans, Jordan" userId="b1a91724-4b98-42c6-8627-8ea89a6fcf88" providerId="ADAL" clId="{F3CDFB95-B342-4F50-BA08-C919016F018C}" dt="2024-09-03T17:33:54.059" v="2" actId="167"/>
          <ac:spMkLst>
            <pc:docMk/>
            <pc:sldMk cId="149348139" sldId="261"/>
            <ac:spMk id="4" creationId="{DEFD0BDE-E4FA-17AB-0BD8-101B645B5933}"/>
          </ac:spMkLst>
        </pc:spChg>
        <pc:spChg chg="add mod">
          <ac:chgData name="Pelkmans, Jordan" userId="b1a91724-4b98-42c6-8627-8ea89a6fcf88" providerId="ADAL" clId="{F3CDFB95-B342-4F50-BA08-C919016F018C}" dt="2024-09-03T21:22:59.491" v="977" actId="20577"/>
          <ac:spMkLst>
            <pc:docMk/>
            <pc:sldMk cId="149348139" sldId="261"/>
            <ac:spMk id="5" creationId="{DA54B43A-D6AC-FA27-0616-CA2882A7F719}"/>
          </ac:spMkLst>
        </pc:spChg>
      </pc:sldChg>
      <pc:sldChg chg="addSp modSp new mod">
        <pc:chgData name="Pelkmans, Jordan" userId="b1a91724-4b98-42c6-8627-8ea89a6fcf88" providerId="ADAL" clId="{F3CDFB95-B342-4F50-BA08-C919016F018C}" dt="2024-09-03T21:31:36.471" v="1033" actId="1076"/>
        <pc:sldMkLst>
          <pc:docMk/>
          <pc:sldMk cId="1975175223" sldId="262"/>
        </pc:sldMkLst>
        <pc:spChg chg="mod">
          <ac:chgData name="Pelkmans, Jordan" userId="b1a91724-4b98-42c6-8627-8ea89a6fcf88" providerId="ADAL" clId="{F3CDFB95-B342-4F50-BA08-C919016F018C}" dt="2024-09-03T21:18:32.580" v="737" actId="20577"/>
          <ac:spMkLst>
            <pc:docMk/>
            <pc:sldMk cId="1975175223" sldId="262"/>
            <ac:spMk id="2" creationId="{6B91F5E1-5770-3CB2-74B3-D0B751C56F9E}"/>
          </ac:spMkLst>
        </pc:spChg>
        <pc:spChg chg="mod">
          <ac:chgData name="Pelkmans, Jordan" userId="b1a91724-4b98-42c6-8627-8ea89a6fcf88" providerId="ADAL" clId="{F3CDFB95-B342-4F50-BA08-C919016F018C}" dt="2024-09-03T21:31:36.471" v="1033" actId="1076"/>
          <ac:spMkLst>
            <pc:docMk/>
            <pc:sldMk cId="1975175223" sldId="262"/>
            <ac:spMk id="3" creationId="{4B8D4490-3F50-41FA-310B-E74237328395}"/>
          </ac:spMkLst>
        </pc:spChg>
        <pc:spChg chg="add mod ord">
          <ac:chgData name="Pelkmans, Jordan" userId="b1a91724-4b98-42c6-8627-8ea89a6fcf88" providerId="ADAL" clId="{F3CDFB95-B342-4F50-BA08-C919016F018C}" dt="2024-09-03T17:37:50.117" v="26" actId="167"/>
          <ac:spMkLst>
            <pc:docMk/>
            <pc:sldMk cId="1975175223" sldId="262"/>
            <ac:spMk id="4" creationId="{3599445F-07E3-AE35-FC5D-F3A8D233AA4F}"/>
          </ac:spMkLst>
        </pc:spChg>
      </pc:sldChg>
      <pc:sldChg chg="modSp add mod setBg">
        <pc:chgData name="Pelkmans, Jordan" userId="b1a91724-4b98-42c6-8627-8ea89a6fcf88" providerId="ADAL" clId="{F3CDFB95-B342-4F50-BA08-C919016F018C}" dt="2024-09-03T21:21:18.971" v="886" actId="20577"/>
        <pc:sldMkLst>
          <pc:docMk/>
          <pc:sldMk cId="3091963979" sldId="263"/>
        </pc:sldMkLst>
        <pc:spChg chg="mod">
          <ac:chgData name="Pelkmans, Jordan" userId="b1a91724-4b98-42c6-8627-8ea89a6fcf88" providerId="ADAL" clId="{F3CDFB95-B342-4F50-BA08-C919016F018C}" dt="2024-09-03T21:20:56.055" v="813" actId="20577"/>
          <ac:spMkLst>
            <pc:docMk/>
            <pc:sldMk cId="3091963979" sldId="263"/>
            <ac:spMk id="7" creationId="{11CABBB8-578A-72EA-7244-37DD18E8A422}"/>
          </ac:spMkLst>
        </pc:spChg>
        <pc:spChg chg="mod">
          <ac:chgData name="Pelkmans, Jordan" userId="b1a91724-4b98-42c6-8627-8ea89a6fcf88" providerId="ADAL" clId="{F3CDFB95-B342-4F50-BA08-C919016F018C}" dt="2024-09-03T21:21:18.971" v="886" actId="20577"/>
          <ac:spMkLst>
            <pc:docMk/>
            <pc:sldMk cId="3091963979" sldId="263"/>
            <ac:spMk id="11" creationId="{EEB2FFEF-0F67-614F-7EDE-F7EEC0B2E2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831902-EBB7-4F45-AF31-7AA21E720E7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1EEB6-F73D-43C6-9CF9-D9AC77BC0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67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E3DAB-C0BA-43EB-B17D-B4ED9A2D12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94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58B3-C02A-43A9-76F2-B4283FDCE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36904-703B-FD6B-C5F3-7784DED1C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29647-47E7-4304-2FB4-B34F46E0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91A5E-B5EA-F0CB-8C86-85A76C3C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C6C63-DDBC-B501-25AE-0389BFB3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2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6DBC-9F33-70DE-12F4-6C9B6563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71C63-7FA4-C0BC-3B2A-682DE9477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E987D-26E6-F73C-EFA2-E1430FAF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685B-D7EF-6DF6-2734-D6D70238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C129C-488A-A374-6648-7DD05BEC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6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A283B-23B3-BE0A-760A-ED83E172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6DCB4-862B-DF4D-8154-B69C74DEE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A001C-3376-D25D-D56C-37E11DAB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64D04-6821-FBCF-51D2-6F5F838D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89D60-D5CE-A054-1783-462A02D0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65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3546-DC8A-F7AF-1053-6C3F9B0E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F07BF-6ABE-02CE-8A29-5EBE37780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62721-F1EA-A31E-4803-FCDF4BF22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73E48-7070-39C9-BCAE-1DD44792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A3ABD-02AF-7E6A-E42A-54117AFE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922EF-880A-EE1A-62C7-26E36B7B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4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81F8-7D14-0897-329C-A12482AD2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38D2F-6C41-F8B1-831F-52FFE4D2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ADA3E-DCC5-C6B1-5BBB-22CA2E41C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96456-DAA5-CA8F-523A-B7E60A105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36F04-3440-6D1A-3113-3E37E51DE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CBA68F-FC51-C4BD-B363-95F7F283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8AA4B-432F-5D80-FC53-B06A3554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D1407-1A2A-7BE8-3721-22B1C984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2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C526-7542-430D-FABE-039A97A5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78767-F68A-1A31-D9FA-8FE11306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868DA-5FFE-3666-2114-C556717D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7CE69-B0FE-A062-F323-DFCDCC6F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7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73547-E638-02E1-0336-6E5AAFF2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41399-30F7-34CA-CDD5-60831490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510FB-E747-6987-654D-31EB89C5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2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6990-A4C3-A64B-3709-9B6A3F209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68A3F-60E5-571C-5F22-47D93D70E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8C969-9605-A0E7-0191-1DCDB930C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CBB2D-5394-F4B4-A9A2-F9F6A6BA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3BD70-DEE4-C3FA-D78C-E2D24566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2B628-1EB2-6650-CD96-08445777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4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99E5-241F-5DB4-DC5B-AC3D477A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802920-93D7-6576-2466-8F35084AF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0AD39-8A52-D63B-18E8-90E2CA86B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7C2-D31B-890E-9077-4A5BDAF1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6912A-2CC5-43BD-E2BA-3FECC66D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F8372-1085-6576-0992-7EC0CEBA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9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80E1-1D5C-FE97-321E-75E93D50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AD478-8B49-7CF3-8A63-885FF3B41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08F7-3D88-E1E9-00DA-5A3D3779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27EDD-D4F0-0294-6CDD-32D45CDE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01D53-6579-7A87-2BCE-A3599C22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5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2F5F9B-EB1B-D1F8-C4B2-BD31B33A8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EC678-07DA-E223-3A06-B901FC09F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DA568-5697-A25F-B4D2-DAA9D9FA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DDD24-BECD-2561-8F32-8695F40A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52DAD-006E-3FA1-4A9A-E9FC401A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0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51C85-89BE-0D48-AE00-EB0DFCED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E8420-A18A-6BAF-4F4B-DB0CA341C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AB6D9-0311-34A8-E4F5-892848C97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BC6B6-2E74-40F7-A4BB-564F490DFD62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11EEC-F4EF-C387-DEB9-08919B6C6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B2A1A-0419-8AD4-378C-2CE1975E8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F44E7-655C-4FD2-9BC4-26CD8DF3F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-education.github.io/hopr/inde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studio.github.io/cheatsheets/html/rstudio-ide.html?_gl=1*1b9xyw*_ga*MTk2MjU2MTM2NS4xNzA2MTA3OTMy*_ga_2C0WZ1JHG0*MTcyNTA0MDczMC4zNy4xLjE3MjUwNDE4MTQuMC4wLjA.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309F80-FDA6-A594-3C2F-ECB351A06D31}"/>
              </a:ext>
            </a:extLst>
          </p:cNvPr>
          <p:cNvSpPr/>
          <p:nvPr/>
        </p:nvSpPr>
        <p:spPr>
          <a:xfrm>
            <a:off x="0" y="4869711"/>
            <a:ext cx="12192000" cy="198828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3166B-3502-FBFB-D71B-72C7715856BE}"/>
              </a:ext>
            </a:extLst>
          </p:cNvPr>
          <p:cNvSpPr/>
          <p:nvPr/>
        </p:nvSpPr>
        <p:spPr>
          <a:xfrm>
            <a:off x="0" y="0"/>
            <a:ext cx="12192000" cy="198828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Comprehensive R Archive Network">
            <a:extLst>
              <a:ext uri="{FF2B5EF4-FFF2-40B4-BE49-F238E27FC236}">
                <a16:creationId xmlns:a16="http://schemas.microsoft.com/office/drawing/2014/main" id="{0EB5F5FA-2023-6CA2-5B54-8B17E85AA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535" y="2512656"/>
            <a:ext cx="1944799" cy="151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 Studio Connect">
            <a:extLst>
              <a:ext uri="{FF2B5EF4-FFF2-40B4-BE49-F238E27FC236}">
                <a16:creationId xmlns:a16="http://schemas.microsoft.com/office/drawing/2014/main" id="{EBCCFBDD-E0A8-5CB9-1354-F068C706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243" y="2735501"/>
            <a:ext cx="3971198" cy="139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1CABBB8-578A-72EA-7244-37DD18E8A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022102"/>
            <a:ext cx="10077387" cy="874486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</a:rPr>
              <a:t>An Introduction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3143E-F711-3CD8-012B-93380BE9165F}"/>
              </a:ext>
            </a:extLst>
          </p:cNvPr>
          <p:cNvSpPr txBox="1"/>
          <p:nvPr/>
        </p:nvSpPr>
        <p:spPr>
          <a:xfrm>
            <a:off x="5284319" y="2949195"/>
            <a:ext cx="811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&amp;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2FFEF-0F67-614F-7EDE-F7EEC0B2E26D}"/>
              </a:ext>
            </a:extLst>
          </p:cNvPr>
          <p:cNvSpPr txBox="1"/>
          <p:nvPr/>
        </p:nvSpPr>
        <p:spPr>
          <a:xfrm>
            <a:off x="451104" y="5394078"/>
            <a:ext cx="5746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Jordan Pelkmans, MSc.</a:t>
            </a:r>
          </a:p>
          <a:p>
            <a:r>
              <a:rPr lang="en-US" dirty="0">
                <a:solidFill>
                  <a:schemeClr val="bg1"/>
                </a:solidFill>
              </a:rPr>
              <a:t>Biostatistician</a:t>
            </a:r>
          </a:p>
          <a:p>
            <a:r>
              <a:rPr lang="en-US" dirty="0">
                <a:solidFill>
                  <a:schemeClr val="bg1"/>
                </a:solidFill>
              </a:rPr>
              <a:t>Office of Nursing Research</a:t>
            </a:r>
          </a:p>
        </p:txBody>
      </p:sp>
    </p:spTree>
    <p:extLst>
      <p:ext uri="{BB962C8B-B14F-4D97-AF65-F5344CB8AC3E}">
        <p14:creationId xmlns:p14="http://schemas.microsoft.com/office/powerpoint/2010/main" val="786705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D3B0EA-F7D1-45BC-BEB0-790A066A737E}"/>
              </a:ext>
            </a:extLst>
          </p:cNvPr>
          <p:cNvSpPr/>
          <p:nvPr/>
        </p:nvSpPr>
        <p:spPr>
          <a:xfrm>
            <a:off x="0" y="1786855"/>
            <a:ext cx="12192000" cy="147646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7DF1B-8490-4FC4-9F36-B96F8771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50B1E-185F-415F-8CCD-9F9087A2D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078374"/>
            <a:ext cx="10772775" cy="102555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BNS Honors Program Statistical Support</a:t>
            </a:r>
          </a:p>
          <a:p>
            <a:pPr marL="4572" lvl="1" indent="0" algn="ctr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bg1"/>
                </a:solidFill>
              </a:rPr>
              <a:t>jordan.pelkmans@emory.edu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312F2-DBED-4586-959C-D2A0E4710E42}"/>
              </a:ext>
            </a:extLst>
          </p:cNvPr>
          <p:cNvSpPr txBox="1"/>
          <p:nvPr/>
        </p:nvSpPr>
        <p:spPr>
          <a:xfrm>
            <a:off x="762001" y="3766657"/>
            <a:ext cx="104205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 Online Book: Hands-On Programming with R </a:t>
            </a:r>
          </a:p>
          <a:p>
            <a:r>
              <a:rPr lang="en-US" dirty="0"/>
              <a:t>	</a:t>
            </a:r>
            <a:r>
              <a:rPr lang="en-US" dirty="0">
                <a:hlinkClick r:id="rId3"/>
              </a:rPr>
              <a:t>https://rstudio-education.github.io/hopr/index.html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Rstudio</a:t>
            </a:r>
            <a:r>
              <a:rPr lang="en-US" dirty="0"/>
              <a:t> IDE </a:t>
            </a:r>
            <a:r>
              <a:rPr lang="en-US" dirty="0" err="1"/>
              <a:t>Cheatsheet</a:t>
            </a:r>
            <a:r>
              <a:rPr lang="en-US" dirty="0"/>
              <a:t> </a:t>
            </a:r>
          </a:p>
          <a:p>
            <a:r>
              <a:rPr lang="en-US" dirty="0"/>
              <a:t>	</a:t>
            </a:r>
            <a:r>
              <a:rPr lang="en-US" dirty="0">
                <a:hlinkClick r:id="rId4"/>
              </a:rPr>
              <a:t>RStudio IDE :: </a:t>
            </a:r>
            <a:r>
              <a:rPr lang="en-US" dirty="0" err="1">
                <a:hlinkClick r:id="rId4"/>
              </a:rPr>
              <a:t>Cheatsheet</a:t>
            </a:r>
            <a:endParaRPr lang="en-US" dirty="0"/>
          </a:p>
          <a:p>
            <a:endParaRPr lang="en-US" dirty="0"/>
          </a:p>
          <a:p>
            <a:r>
              <a:rPr lang="en-US" dirty="0"/>
              <a:t>Code and Data used in today’s examples and other helpful resources</a:t>
            </a:r>
          </a:p>
        </p:txBody>
      </p:sp>
    </p:spTree>
    <p:extLst>
      <p:ext uri="{BB962C8B-B14F-4D97-AF65-F5344CB8AC3E}">
        <p14:creationId xmlns:p14="http://schemas.microsoft.com/office/powerpoint/2010/main" val="299323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98"/>
    </mc:Choice>
    <mc:Fallback xmlns="">
      <p:transition spd="slow" advTm="4309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7D793F-D620-2CE4-CA5A-4756E4B3F997}"/>
              </a:ext>
            </a:extLst>
          </p:cNvPr>
          <p:cNvSpPr/>
          <p:nvPr/>
        </p:nvSpPr>
        <p:spPr>
          <a:xfrm>
            <a:off x="0" y="-57194"/>
            <a:ext cx="12192000" cy="17478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0404-036D-058C-79CA-1ADD7F39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What is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FBC07-1449-AA21-E790-28ED95B36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3007"/>
            <a:ext cx="10515600" cy="4063956"/>
          </a:xfrm>
        </p:spPr>
        <p:txBody>
          <a:bodyPr/>
          <a:lstStyle/>
          <a:p>
            <a:r>
              <a:rPr lang="en-US" b="1" dirty="0"/>
              <a:t>R</a:t>
            </a:r>
            <a:r>
              <a:rPr lang="en-US" dirty="0"/>
              <a:t> is an </a:t>
            </a:r>
            <a:r>
              <a:rPr lang="en-US" b="1" dirty="0"/>
              <a:t>Open-Source Software</a:t>
            </a:r>
            <a:r>
              <a:rPr lang="en-US" dirty="0"/>
              <a:t> for </a:t>
            </a:r>
            <a:r>
              <a:rPr lang="en-US" b="1" dirty="0"/>
              <a:t>Statistical Analysis +</a:t>
            </a:r>
          </a:p>
          <a:p>
            <a:pPr lvl="1"/>
            <a:r>
              <a:rPr lang="en-US" dirty="0"/>
              <a:t>An important part of </a:t>
            </a:r>
            <a:r>
              <a:rPr lang="en-US" b="1" dirty="0"/>
              <a:t>Open Science</a:t>
            </a:r>
            <a:r>
              <a:rPr lang="en-US" dirty="0"/>
              <a:t> and </a:t>
            </a:r>
            <a:r>
              <a:rPr lang="en-US" b="1" dirty="0"/>
              <a:t>Reproducible Research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Freely available </a:t>
            </a:r>
          </a:p>
          <a:p>
            <a:r>
              <a:rPr lang="en-US" b="1" dirty="0"/>
              <a:t>R Foundation </a:t>
            </a:r>
            <a:r>
              <a:rPr lang="en-US" dirty="0"/>
              <a:t>is a non-profit that maintains R and CRAN</a:t>
            </a:r>
          </a:p>
          <a:p>
            <a:pPr lvl="1"/>
            <a:r>
              <a:rPr lang="en-US" dirty="0"/>
              <a:t>Large community of users and developers</a:t>
            </a:r>
          </a:p>
          <a:p>
            <a:pPr lvl="1"/>
            <a:r>
              <a:rPr lang="en-US" dirty="0"/>
              <a:t>Allows for early adoption of cutting-edge statistics by loading add-on packages (more than 10,000 available!!!)</a:t>
            </a:r>
          </a:p>
          <a:p>
            <a:r>
              <a:rPr lang="en-US" b="1" dirty="0"/>
              <a:t>R is also</a:t>
            </a:r>
            <a:r>
              <a:rPr lang="en-US" dirty="0"/>
              <a:t> </a:t>
            </a:r>
            <a:r>
              <a:rPr lang="en-US" b="1" dirty="0"/>
              <a:t>a programming language</a:t>
            </a:r>
          </a:p>
          <a:p>
            <a:pPr lvl="1"/>
            <a:r>
              <a:rPr lang="en-US" dirty="0"/>
              <a:t>Object based</a:t>
            </a:r>
          </a:p>
        </p:txBody>
      </p:sp>
    </p:spTree>
    <p:extLst>
      <p:ext uri="{BB962C8B-B14F-4D97-AF65-F5344CB8AC3E}">
        <p14:creationId xmlns:p14="http://schemas.microsoft.com/office/powerpoint/2010/main" val="30454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7D793F-D620-2CE4-CA5A-4756E4B3F997}"/>
              </a:ext>
            </a:extLst>
          </p:cNvPr>
          <p:cNvSpPr/>
          <p:nvPr/>
        </p:nvSpPr>
        <p:spPr>
          <a:xfrm>
            <a:off x="0" y="-57194"/>
            <a:ext cx="12192000" cy="17478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0404-036D-058C-79CA-1ADD7F39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What is RStudio?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717CE7E-0917-21BF-0DD5-88BEA6A61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3" y="1990855"/>
            <a:ext cx="6683829" cy="44100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FBC07-1449-AA21-E790-28ED95B36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102030"/>
            <a:ext cx="5170713" cy="4298842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RStudio is an </a:t>
            </a:r>
            <a:r>
              <a:rPr lang="en-US" sz="2400" dirty="0"/>
              <a:t>Integrated Development Environment </a:t>
            </a:r>
            <a:r>
              <a:rPr lang="en-US" sz="2400" b="1" dirty="0"/>
              <a:t>(IDE)</a:t>
            </a:r>
          </a:p>
          <a:p>
            <a:pPr lvl="1">
              <a:spcAft>
                <a:spcPts val="1200"/>
              </a:spcAft>
            </a:pPr>
            <a:r>
              <a:rPr lang="en-US" sz="2000" b="1" dirty="0"/>
              <a:t>RStudio </a:t>
            </a:r>
            <a:r>
              <a:rPr lang="en-US" sz="2000" dirty="0"/>
              <a:t>is also a </a:t>
            </a:r>
            <a:r>
              <a:rPr lang="en-US" sz="2000" b="1" dirty="0"/>
              <a:t>GUI </a:t>
            </a:r>
            <a:r>
              <a:rPr lang="en-US" sz="2000" dirty="0"/>
              <a:t>that makes R look the same on all operating systems</a:t>
            </a:r>
          </a:p>
          <a:p>
            <a:pPr lvl="1">
              <a:spcAft>
                <a:spcPts val="1200"/>
              </a:spcAft>
            </a:pPr>
            <a:r>
              <a:rPr lang="en-US" sz="2000" b="1" dirty="0"/>
              <a:t>Allows you to:</a:t>
            </a:r>
          </a:p>
          <a:p>
            <a:pPr lvl="2">
              <a:spcAft>
                <a:spcPts val="1200"/>
              </a:spcAft>
            </a:pPr>
            <a:r>
              <a:rPr lang="en-US" sz="1800" dirty="0"/>
              <a:t>Browse objects</a:t>
            </a:r>
          </a:p>
          <a:p>
            <a:pPr lvl="2">
              <a:spcAft>
                <a:spcPts val="1200"/>
              </a:spcAft>
            </a:pPr>
            <a:r>
              <a:rPr lang="en-US" sz="1800" dirty="0"/>
              <a:t>View file folders </a:t>
            </a:r>
          </a:p>
          <a:p>
            <a:pPr lvl="2">
              <a:spcAft>
                <a:spcPts val="1200"/>
              </a:spcAft>
            </a:pPr>
            <a:r>
              <a:rPr lang="en-US" sz="1800" dirty="0"/>
              <a:t>View installed packages</a:t>
            </a:r>
          </a:p>
          <a:p>
            <a:pPr lvl="2">
              <a:spcAft>
                <a:spcPts val="1200"/>
              </a:spcAft>
            </a:pPr>
            <a:r>
              <a:rPr lang="en-US" sz="1800" dirty="0"/>
              <a:t>Write and edit code</a:t>
            </a:r>
          </a:p>
          <a:p>
            <a:pPr lvl="2">
              <a:spcAft>
                <a:spcPts val="1200"/>
              </a:spcAft>
            </a:pPr>
            <a:r>
              <a:rPr lang="en-US" sz="1800" dirty="0"/>
              <a:t>View output, charts, and graphs</a:t>
            </a:r>
          </a:p>
        </p:txBody>
      </p:sp>
    </p:spTree>
    <p:extLst>
      <p:ext uri="{BB962C8B-B14F-4D97-AF65-F5344CB8AC3E}">
        <p14:creationId xmlns:p14="http://schemas.microsoft.com/office/powerpoint/2010/main" val="399983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D0BDE-E4FA-17AB-0BD8-101B645B5933}"/>
              </a:ext>
            </a:extLst>
          </p:cNvPr>
          <p:cNvSpPr/>
          <p:nvPr/>
        </p:nvSpPr>
        <p:spPr>
          <a:xfrm>
            <a:off x="0" y="-57194"/>
            <a:ext cx="12192000" cy="17478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47CB9-BB9F-FCD2-047F-E610878D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Let’s Dive In!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4B43A-D6AC-FA27-0616-CA2882A7F719}"/>
              </a:ext>
            </a:extLst>
          </p:cNvPr>
          <p:cNvSpPr txBox="1"/>
          <p:nvPr/>
        </p:nvSpPr>
        <p:spPr>
          <a:xfrm>
            <a:off x="838200" y="2113007"/>
            <a:ext cx="1070762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Some tips: </a:t>
            </a:r>
          </a:p>
          <a:p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Don’t be nervous. You’re not going to break anything </a:t>
            </a:r>
            <a:r>
              <a:rPr lang="en-US" sz="1200" dirty="0"/>
              <a:t>(permanently)</a:t>
            </a:r>
            <a:r>
              <a:rPr lang="en-US" dirty="0"/>
              <a:t>. </a:t>
            </a:r>
            <a:r>
              <a:rPr lang="en-US" dirty="0">
                <a:solidFill>
                  <a:srgbClr val="FF0000"/>
                </a:solidFill>
              </a:rPr>
              <a:t>Do not fear the red text!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b="1" dirty="0"/>
              <a:t>What to do if you get red text </a:t>
            </a:r>
            <a:r>
              <a:rPr lang="en-US" dirty="0"/>
              <a:t>(in this order):  </a:t>
            </a:r>
          </a:p>
          <a:p>
            <a:pPr marL="1257300" lvl="2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Read it! Sometimes the solution is right there in the error message.</a:t>
            </a:r>
          </a:p>
          <a:p>
            <a:pPr marL="1257300" lvl="2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Google it! </a:t>
            </a:r>
            <a:r>
              <a:rPr lang="en-US" sz="2000" b="1" dirty="0"/>
              <a:t>The best coders are great Googlers.</a:t>
            </a:r>
          </a:p>
          <a:p>
            <a:pPr marL="1257300" lvl="2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Ask your peers for help! </a:t>
            </a:r>
          </a:p>
          <a:p>
            <a:pPr marL="1257300" lvl="2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E-mail me!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Make sure all your data, code files, and project file are in the same folder on your computer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Always save your code!</a:t>
            </a:r>
          </a:p>
          <a:p>
            <a:pPr marL="12573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 make sure your results are reproducible </a:t>
            </a:r>
          </a:p>
          <a:p>
            <a:pPr marL="12573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 make sure you can go back to code that runs if you break things. </a:t>
            </a:r>
          </a:p>
          <a:p>
            <a:pPr marL="12573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 save time in future projects – </a:t>
            </a:r>
            <a:r>
              <a:rPr lang="en-US" b="1" dirty="0"/>
              <a:t>Reuse old code when you can!!</a:t>
            </a:r>
          </a:p>
        </p:txBody>
      </p:sp>
    </p:spTree>
    <p:extLst>
      <p:ext uri="{BB962C8B-B14F-4D97-AF65-F5344CB8AC3E}">
        <p14:creationId xmlns:p14="http://schemas.microsoft.com/office/powerpoint/2010/main" val="14934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99445F-07E3-AE35-FC5D-F3A8D233AA4F}"/>
              </a:ext>
            </a:extLst>
          </p:cNvPr>
          <p:cNvSpPr/>
          <p:nvPr/>
        </p:nvSpPr>
        <p:spPr>
          <a:xfrm>
            <a:off x="0" y="-57194"/>
            <a:ext cx="12192000" cy="17478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1F5E1-5770-3CB2-74B3-D0B751C5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Bonus: R 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D4490-3F50-41FA-310B-E74237328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8984"/>
            <a:ext cx="10515600" cy="2747962"/>
          </a:xfrm>
        </p:spPr>
        <p:txBody>
          <a:bodyPr/>
          <a:lstStyle/>
          <a:p>
            <a:r>
              <a:rPr lang="en-US" b="1" dirty="0"/>
              <a:t>Make reproducible documents</a:t>
            </a:r>
            <a:r>
              <a:rPr lang="en-US" dirty="0"/>
              <a:t> with tables and figures in R!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Quick Example if we have time</a:t>
            </a:r>
          </a:p>
        </p:txBody>
      </p:sp>
    </p:spTree>
    <p:extLst>
      <p:ext uri="{BB962C8B-B14F-4D97-AF65-F5344CB8AC3E}">
        <p14:creationId xmlns:p14="http://schemas.microsoft.com/office/powerpoint/2010/main" val="197517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309F80-FDA6-A594-3C2F-ECB351A06D31}"/>
              </a:ext>
            </a:extLst>
          </p:cNvPr>
          <p:cNvSpPr/>
          <p:nvPr/>
        </p:nvSpPr>
        <p:spPr>
          <a:xfrm>
            <a:off x="0" y="4869711"/>
            <a:ext cx="12192000" cy="198828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3166B-3502-FBFB-D71B-72C7715856BE}"/>
              </a:ext>
            </a:extLst>
          </p:cNvPr>
          <p:cNvSpPr/>
          <p:nvPr/>
        </p:nvSpPr>
        <p:spPr>
          <a:xfrm>
            <a:off x="0" y="0"/>
            <a:ext cx="12192000" cy="198828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Comprehensive R Archive Network">
            <a:extLst>
              <a:ext uri="{FF2B5EF4-FFF2-40B4-BE49-F238E27FC236}">
                <a16:creationId xmlns:a16="http://schemas.microsoft.com/office/drawing/2014/main" id="{0EB5F5FA-2023-6CA2-5B54-8B17E85AA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535" y="2512656"/>
            <a:ext cx="1944799" cy="151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 Studio Connect">
            <a:extLst>
              <a:ext uri="{FF2B5EF4-FFF2-40B4-BE49-F238E27FC236}">
                <a16:creationId xmlns:a16="http://schemas.microsoft.com/office/drawing/2014/main" id="{EBCCFBDD-E0A8-5CB9-1354-F068C706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243" y="2735501"/>
            <a:ext cx="3971198" cy="139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1CABBB8-578A-72EA-7244-37DD18E8A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022102"/>
            <a:ext cx="10077387" cy="874486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</a:rPr>
              <a:t>Thank you!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3143E-F711-3CD8-012B-93380BE9165F}"/>
              </a:ext>
            </a:extLst>
          </p:cNvPr>
          <p:cNvSpPr txBox="1"/>
          <p:nvPr/>
        </p:nvSpPr>
        <p:spPr>
          <a:xfrm>
            <a:off x="5284319" y="2949195"/>
            <a:ext cx="811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&amp;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2FFEF-0F67-614F-7EDE-F7EEC0B2E26D}"/>
              </a:ext>
            </a:extLst>
          </p:cNvPr>
          <p:cNvSpPr txBox="1"/>
          <p:nvPr/>
        </p:nvSpPr>
        <p:spPr>
          <a:xfrm>
            <a:off x="451104" y="5394078"/>
            <a:ext cx="5746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Reach out if you have questions or need help!</a:t>
            </a:r>
          </a:p>
          <a:p>
            <a:r>
              <a:rPr lang="en-US" b="1" dirty="0">
                <a:solidFill>
                  <a:schemeClr val="bg1"/>
                </a:solidFill>
              </a:rPr>
              <a:t>Jordan.Pelkmans@emory.edu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963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5990</TotalTime>
  <Words>363</Words>
  <Application>Microsoft Office PowerPoint</Application>
  <PresentationFormat>Widescreen</PresentationFormat>
  <Paragraphs>56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An Introduction to</vt:lpstr>
      <vt:lpstr>Resources</vt:lpstr>
      <vt:lpstr>What is R?</vt:lpstr>
      <vt:lpstr>What is RStudio?</vt:lpstr>
      <vt:lpstr>Let’s Dive In!</vt:lpstr>
      <vt:lpstr>Bonus: R Markdown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Pelkmans, Jordan</dc:creator>
  <cp:lastModifiedBy>Pelkmans, Jordan</cp:lastModifiedBy>
  <cp:revision>1</cp:revision>
  <dcterms:created xsi:type="dcterms:W3CDTF">2024-08-30T17:40:54Z</dcterms:created>
  <dcterms:modified xsi:type="dcterms:W3CDTF">2024-09-03T21:31:44Z</dcterms:modified>
</cp:coreProperties>
</file>